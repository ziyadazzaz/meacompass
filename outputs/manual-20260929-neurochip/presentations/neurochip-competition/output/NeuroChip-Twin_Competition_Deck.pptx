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c5ea1ecc414aa5" /><Relationship Type="http://schemas.openxmlformats.org/officeDocument/2006/relationships/extended-properties" Target="/docProps/app.xml" Id="R69909fefa9f143cd" /><Relationship Type="http://schemas.openxmlformats.org/officeDocument/2006/relationships/officeDocument" Target="/ppt/presentation.xml" Id="R2fe77bd0d1684e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2027d0f59143e5"/>
  </p:sldMasterIdLst>
  <p:notesMasterIdLst>
    <p:notesMasterId xmlns:r="http://schemas.openxmlformats.org/officeDocument/2006/relationships" r:id="R88b1a3f4025746ca"/>
  </p:notesMasterIdLst>
  <p:sldIdLst>
    <p:sldId xmlns:r="http://schemas.openxmlformats.org/officeDocument/2006/relationships" id="256" r:id="Raa369a1b20354b22"/>
    <p:sldId xmlns:r="http://schemas.openxmlformats.org/officeDocument/2006/relationships" id="257" r:id="R20f4f989d3d04a1b"/>
    <p:sldId xmlns:r="http://schemas.openxmlformats.org/officeDocument/2006/relationships" id="258" r:id="R43f6b9fff49a4ada"/>
    <p:sldId xmlns:r="http://schemas.openxmlformats.org/officeDocument/2006/relationships" id="259" r:id="Rfd8d28249ba14859"/>
    <p:sldId xmlns:r="http://schemas.openxmlformats.org/officeDocument/2006/relationships" id="260" r:id="R427141f50af842b0"/>
    <p:sldId xmlns:r="http://schemas.openxmlformats.org/officeDocument/2006/relationships" id="261" r:id="Rd9694b0f685e4255"/>
    <p:sldId xmlns:r="http://schemas.openxmlformats.org/officeDocument/2006/relationships" id="262" r:id="R35240a4aaa9d4f65"/>
    <p:sldId xmlns:r="http://schemas.openxmlformats.org/officeDocument/2006/relationships" id="263" r:id="R28a0687a3b7a4f77"/>
    <p:sldId xmlns:r="http://schemas.openxmlformats.org/officeDocument/2006/relationships" id="264" r:id="R24b9bbfa50054d9d"/>
    <p:sldId xmlns:r="http://schemas.openxmlformats.org/officeDocument/2006/relationships" id="265" r:id="R3b251d3e9b6745a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2027d0f59143e5" /><Relationship Type="http://schemas.openxmlformats.org/officeDocument/2006/relationships/theme" Target="/ppt/theme/theme1.xml" Id="R011592834c024920" /><Relationship Type="http://schemas.openxmlformats.org/officeDocument/2006/relationships/notesMaster" Target="/ppt/notesMasters/notesMaster1.xml" Id="R88b1a3f4025746ca" /><Relationship Type="http://schemas.openxmlformats.org/officeDocument/2006/relationships/presProps" Target="/ppt/presProps.xml" Id="Rc21b3180b47c4c8e" /><Relationship Type="http://schemas.openxmlformats.org/officeDocument/2006/relationships/viewProps" Target="/ppt/viewProps.xml" Id="Rb45c2a5b61cb4eee" /><Relationship Type="http://schemas.openxmlformats.org/officeDocument/2006/relationships/tableStyles" Target="/ppt/tableStyles.xml" Id="R4469c2775dc04b54" /><Relationship Type="http://schemas.openxmlformats.org/officeDocument/2006/relationships/slide" Target="/ppt/slides/slide1.xml" Id="Raa369a1b20354b22" /><Relationship Type="http://schemas.openxmlformats.org/officeDocument/2006/relationships/slide" Target="/ppt/slides/slide2.xml" Id="R20f4f989d3d04a1b" /><Relationship Type="http://schemas.openxmlformats.org/officeDocument/2006/relationships/slide" Target="/ppt/slides/slide3.xml" Id="R43f6b9fff49a4ada" /><Relationship Type="http://schemas.openxmlformats.org/officeDocument/2006/relationships/slide" Target="/ppt/slides/slide4.xml" Id="Rfd8d28249ba14859" /><Relationship Type="http://schemas.openxmlformats.org/officeDocument/2006/relationships/slide" Target="/ppt/slides/slide5.xml" Id="R427141f50af842b0" /><Relationship Type="http://schemas.openxmlformats.org/officeDocument/2006/relationships/slide" Target="/ppt/slides/slide6.xml" Id="Rd9694b0f685e4255" /><Relationship Type="http://schemas.openxmlformats.org/officeDocument/2006/relationships/slide" Target="/ppt/slides/slide7.xml" Id="R35240a4aaa9d4f65" /><Relationship Type="http://schemas.openxmlformats.org/officeDocument/2006/relationships/slide" Target="/ppt/slides/slide8.xml" Id="R28a0687a3b7a4f77" /><Relationship Type="http://schemas.openxmlformats.org/officeDocument/2006/relationships/slide" Target="/ppt/slides/slide9.xml" Id="R24b9bbfa50054d9d" /><Relationship Type="http://schemas.openxmlformats.org/officeDocument/2006/relationships/slide" Target="/ppt/slides/slide10.xml" Id="R3b251d3e9b6745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e02b5087f4949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44c1a3b1744c01" /><Relationship Type="http://schemas.openxmlformats.org/officeDocument/2006/relationships/notesMaster" Target="/ppt/notesMasters/notesMaster1.xml" Id="R81b91d557a7442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1a338af7f74cce" /><Relationship Type="http://schemas.openxmlformats.org/officeDocument/2006/relationships/notesMaster" Target="/ppt/notesMasters/notesMaster1.xml" Id="R4999cd779d3145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ee4e76313d4acd" /><Relationship Type="http://schemas.openxmlformats.org/officeDocument/2006/relationships/notesMaster" Target="/ppt/notesMasters/notesMaster1.xml" Id="R597ed98a5be745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63cc2d674541a8" /><Relationship Type="http://schemas.openxmlformats.org/officeDocument/2006/relationships/notesMaster" Target="/ppt/notesMasters/notesMaster1.xml" Id="R147b2717651345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1aba86f2374918" /><Relationship Type="http://schemas.openxmlformats.org/officeDocument/2006/relationships/notesMaster" Target="/ppt/notesMasters/notesMaster1.xml" Id="R82d2f8b099aa49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361dfbeb294b16" /><Relationship Type="http://schemas.openxmlformats.org/officeDocument/2006/relationships/notesMaster" Target="/ppt/notesMasters/notesMaster1.xml" Id="Rdb83211785a843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8f00df9e70445a" /><Relationship Type="http://schemas.openxmlformats.org/officeDocument/2006/relationships/notesMaster" Target="/ppt/notesMasters/notesMaster1.xml" Id="R4e42bc4021ca41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319ee02ac34675" /><Relationship Type="http://schemas.openxmlformats.org/officeDocument/2006/relationships/notesMaster" Target="/ppt/notesMasters/notesMaster1.xml" Id="Re998f2a110704f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21941427d742f7" /><Relationship Type="http://schemas.openxmlformats.org/officeDocument/2006/relationships/notesMaster" Target="/ppt/notesMasters/notesMaster1.xml" Id="R6c1de50abbfd4c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9b75c1df044d37" /><Relationship Type="http://schemas.openxmlformats.org/officeDocument/2006/relationships/notesMaster" Target="/ppt/notesMasters/notesMaster1.xml" Id="Re8db7ab3c4354f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ff44bb059487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5c9e54fa4f143c9" /><Relationship Type="http://schemas.openxmlformats.org/officeDocument/2006/relationships/slideLayout" Target="/ppt/slideLayouts/slideLayout2.xml" Id="R1fae0bf3764c46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ae0bf3764c46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a6b963f63544a0" /><Relationship Type="http://schemas.openxmlformats.org/officeDocument/2006/relationships/notesSlide" Target="/ppt/notesSlides/notesSlide1.xml" Id="Ra5930d4b4dce43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a46cf23ec34749" /><Relationship Type="http://schemas.openxmlformats.org/officeDocument/2006/relationships/notesSlide" Target="/ppt/notesSlides/notesSlide2.xml" Id="R80874b59dbda4c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af22f8092448f9" /><Relationship Type="http://schemas.openxmlformats.org/officeDocument/2006/relationships/notesSlide" Target="/ppt/notesSlides/notesSlide3.xml" Id="Rcde05ca37dcf4b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75b2115f87477a" /><Relationship Type="http://schemas.openxmlformats.org/officeDocument/2006/relationships/notesSlide" Target="/ppt/notesSlides/notesSlide4.xml" Id="Rc6b5a4d21fe041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3f1d40b9b64375" /><Relationship Type="http://schemas.openxmlformats.org/officeDocument/2006/relationships/notesSlide" Target="/ppt/notesSlides/notesSlide5.xml" Id="R4ef1a040a1674d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2c744d2b8249a5" /><Relationship Type="http://schemas.openxmlformats.org/officeDocument/2006/relationships/notesSlide" Target="/ppt/notesSlides/notesSlide6.xml" Id="R028e7f464f7c40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3c5f4f66734e43" /><Relationship Type="http://schemas.openxmlformats.org/officeDocument/2006/relationships/notesSlide" Target="/ppt/notesSlides/notesSlide7.xml" Id="R74f3ecd70de04c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8dae0ba3434fd5" /><Relationship Type="http://schemas.openxmlformats.org/officeDocument/2006/relationships/notesSlide" Target="/ppt/notesSlides/notesSlide8.xml" Id="R34a0d45e6ed74d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badb813e8b47fd" /><Relationship Type="http://schemas.openxmlformats.org/officeDocument/2006/relationships/notesSlide" Target="/ppt/notesSlides/notesSlide9.xml" Id="Rc004c8e2567949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946ef9a49b4427" /><Relationship Type="http://schemas.openxmlformats.org/officeDocument/2006/relationships/notesSlide" Target="/ppt/notesSlides/notesSlide10.xml" Id="Rdd887823053443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014E153-7D25-4011-8753-3F72C949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0">
            <a:solidFill>
              <a:srgbClr val="101A2B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37D9F98-BA28-4A24-ABB7-80C2EE5D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39D"/>
          </a:solidFill>
          <a:ln xmlns:a="http://schemas.openxmlformats.org/drawingml/2006/main" w="0">
            <a:solidFill>
              <a:srgbClr val="45B39D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23277DC-9AEF-479F-A87D-77B45725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9B7CA"/>
                </a:solidFill>
                <a:latin typeface="Aptos"/>
                <a:ea typeface="Aptos"/>
                <a:cs typeface="Aptos"/>
              </a:rPr>
              <a:t>N E U R O C H I P - T W I N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EECFCE3-1C05-492D-B199-06D2FA1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057"/>
          </a:solidFill>
          <a:ln xmlns:a="http://schemas.openxmlformats.org/drawingml/2006/main" w="0">
            <a:solidFill>
              <a:srgbClr val="304057"/>
            </a:solidFill>
            <a:prstDash val="solid"/>
          </a:ln>
        </p:spPr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D12C3167-5912-42E7-8A84-95BE3FD9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A9B7CA"/>
                </a:solidFill>
                <a:latin typeface="Aptos"/>
                <a:ea typeface="Aptos"/>
                <a:cs typeface="Aptos"/>
              </a:rPr>
              <a:t>Locked retrospective result • EPA rat cortical neural MEA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895E9F-E903-4FF4-A67F-E8F8FDB2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7CA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9B7C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BD010-DBD0-446A-8FFB-EBBA9E25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9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FORECAST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79456-C066-466A-B1DC-6F8603F3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581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45B39D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45B39D"/>
                </a:solidFill>
                <a:latin typeface="Georgia"/>
                <a:ea typeface="Georgia"/>
                <a:cs typeface="Georgia"/>
              </a:rPr>
              <a:t>five days earlier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7D649-947E-4D9C-BED4-D48C702A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76525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—with permission to wait.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9CC61-3144-47B4-BA0A-7C7C9BCE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552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CFD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4CFDC"/>
                </a:solidFill>
                <a:latin typeface="Aptos"/>
                <a:ea typeface="Aptos"/>
                <a:cs typeface="Aptos"/>
              </a:rPr>
              <a:t>DIV7 → calibrated DIV12 forecast for unseen chemicals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7A441-FD20-4904-9DA5-817E2869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477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F"/>
          </a:solidFill>
          <a:ln xmlns:a="http://schemas.openxmlformats.org/drawingml/2006/main" w="0">
            <a:solidFill>
              <a:srgbClr val="3446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F917F-BA25-40AD-944B-2038C56F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2410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D1"/>
          </a:solidFill>
          <a:ln xmlns:a="http://schemas.openxmlformats.org/drawingml/2006/main" w="0">
            <a:solidFill>
              <a:srgbClr val="1F6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979B1-6E18-441E-8B3C-13D0E119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81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AECAB-9F4C-4B0E-9785-B4EC3C9A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098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DIV5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84A2E-9239-44D2-857B-6FDBC8D8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81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39D"/>
          </a:solidFill>
          <a:ln xmlns:a="http://schemas.openxmlformats.org/drawingml/2006/main" w="0">
            <a:solidFill>
              <a:srgbClr val="45B39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5D72C-10E3-414C-96D9-4482604F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098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DIV7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A76505-6C6E-4E28-9E9F-34069433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81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9F30D-12CA-484D-A28B-8842CBD4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098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DIV12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12AC47-A85B-4A88-B5AE-B198A3BB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861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7CA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4491C1-363D-418F-9320-DA2DABA0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86100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5B39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5B39D"/>
                </a:solidFill>
                <a:latin typeface="Aptos"/>
                <a:ea typeface="Aptos"/>
                <a:cs typeface="Aptos"/>
              </a:rPr>
              <a:t>PREDICT / ABSTAIN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51E9B5-E41D-4EF8-ACA3-53233531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861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7CA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2DC058-2735-4988-BA84-CB4DBE14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65F"/>
          </a:solidFill>
          <a:ln xmlns:a="http://schemas.openxmlformats.org/drawingml/2006/main" w="0">
            <a:solidFill>
              <a:srgbClr val="3446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C16FD5-2947-4391-93E1-1BA63F53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24425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D1"/>
          </a:solidFill>
          <a:ln xmlns:a="http://schemas.openxmlformats.org/drawingml/2006/main" w="0">
            <a:solidFill>
              <a:srgbClr val="1F66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83A1DB-D4A9-47C4-B477-FC52A446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14.2–39.0%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C81AF5-8F6C-4901-A65D-A79E1EAD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8478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6C3D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6C3D3"/>
                </a:solidFill>
                <a:latin typeface="Aptos"/>
                <a:ea typeface="Aptos"/>
                <a:cs typeface="Aptos"/>
              </a:rPr>
              <a:t>MAE GAIN VS BT+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B7BF61-094E-4144-B170-A906CB39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4025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6C3D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B6C3D3"/>
                </a:solidFill>
                <a:latin typeface="Aptos"/>
                <a:ea typeface="Aptos"/>
                <a:cs typeface="Aptos"/>
              </a:rPr>
              <a:t>all 5 endpoints significant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FAF496-08E8-451B-896E-7C3C4846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39D"/>
          </a:solidFill>
          <a:ln xmlns:a="http://schemas.openxmlformats.org/drawingml/2006/main" w="0">
            <a:solidFill>
              <a:srgbClr val="45B39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5A9B9B-33E7-462A-9BC0-47A621C8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053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91.0–92.4%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B61C03-E629-41B7-90A6-DE74F58E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334000"/>
            <a:ext cx="18478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6C3D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6C3D3"/>
                </a:solidFill>
                <a:latin typeface="Aptos"/>
                <a:ea typeface="Aptos"/>
                <a:cs typeface="Aptos"/>
              </a:rPr>
              <a:t>INTERVAL COVERAGE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36CA5B-81CF-414B-B2C4-84AC3866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534025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6C3D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B6C3D3"/>
                </a:solidFill>
                <a:latin typeface="Aptos"/>
                <a:ea typeface="Aptos"/>
                <a:cs typeface="Aptos"/>
              </a:rPr>
              <a:t>nominal 90%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6F8513-FE85-4FA9-A3E3-EB8F0D49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24425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solidFill>
              <a:srgbClr val="E3A72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FF7E71-64E7-48EB-8F43-9AD08460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053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 / 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26352A-3EFB-4B9F-AF3E-47CB72F4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34000"/>
            <a:ext cx="18478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6C3D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6C3D3"/>
                </a:solidFill>
                <a:latin typeface="Aptos"/>
                <a:ea typeface="Aptos"/>
                <a:cs typeface="Aptos"/>
              </a:rPr>
              <a:t>ABSTENTION ENDPOINTS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A7D4C6-4036-49C8-AB36-32A6E87F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34025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6C3D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B6C3D3"/>
                </a:solidFill>
                <a:latin typeface="Aptos"/>
                <a:ea typeface="Aptos"/>
                <a:cs typeface="Aptos"/>
              </a:rPr>
              <a:t>clear 15% risk threshold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7671A9-A419-4E2B-AAE5-8530ED4D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24425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5"/>
          </a:solidFill>
          <a:ln xmlns:a="http://schemas.openxmlformats.org/drawingml/2006/main" w="0">
            <a:solidFill>
              <a:srgbClr val="E35D4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6F47A8-0654-4092-872B-41BCA177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053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 days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1EBFDD-BFF5-4C23-8F1C-562C46DE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34000"/>
            <a:ext cx="18478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6C3D3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B6C3D3"/>
                </a:solidFill>
                <a:latin typeface="Aptos"/>
                <a:ea typeface="Aptos"/>
                <a:cs typeface="Aptos"/>
              </a:rPr>
              <a:t>EARLIER FOR ACCEPTED CASES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F0DAC2-7996-4DA4-B946-70970B50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34025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B6C3D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B6C3D3"/>
                </a:solidFill>
                <a:latin typeface="Aptos"/>
                <a:ea typeface="Aptos"/>
                <a:cs typeface="Aptos"/>
              </a:rPr>
              <a:t>research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2775543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523B7DB-4CC0-4FA9-83C6-E89C7A45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F692997-C832-40CB-A385-866F9E9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D1"/>
          </a:solidFill>
          <a:ln xmlns:a="http://schemas.openxmlformats.org/drawingml/2006/main" w="0">
            <a:solidFill>
              <a:srgbClr val="1F66D1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3FFEAA2-4034-4D95-BFE4-A5938654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 C I E N T I F I C   B O U N D A R Y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04FE053-A753-4EE0-8F1C-60ABA099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7BFA4CCE-1874-4A71-BDFF-982A4F90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docs/neurochip_data_audit.md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9E5885D-1E3E-451D-B6D4-58394F8A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7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128E78B-50D9-424E-9A62-3CD1396E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The boundary makes the result credible.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F8902-F616-46B0-81E5-7EEB6655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66D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66D1"/>
                </a:solidFill>
                <a:latin typeface="Aptos"/>
                <a:ea typeface="Aptos"/>
                <a:cs typeface="Aptos"/>
              </a:rPr>
              <a:t>WHAT THIS 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6665B-BFA0-4E6E-B42E-18F91902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286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Rat cortical neural</a:t>
            </a:r>
          </a:p>
          <a:p xmlns:a="http://schemas.openxmlformats.org/drawingml/2006/main">
            <a:pPr algn="l">
              <a:defRPr sz="2250" b="1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microelectrode-array assay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F4D50-3ACA-4B3F-B1A2-FAF44E10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Longitudinal electrophysiology across DIV5, DIV7, DIV9, and DIV12.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CA9C9-1076-48C9-92FA-85926E5D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190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4DBB6-647F-4354-AACE-3739C18B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35D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35D45"/>
                </a:solidFill>
                <a:latin typeface="Aptos"/>
                <a:ea typeface="Aptos"/>
                <a:cs typeface="Aptos"/>
              </a:rPr>
              <a:t>WHAT THIS IS NOT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3DC037-5B5B-410E-9CB1-CD961F25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476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Not organ-on-chip data.</a:t>
            </a:r>
          </a:p>
          <a:p xmlns:a="http://schemas.openxmlformats.org/drawingml/2006/main">
            <a:pPr algn="l">
              <a:defRPr sz="2250" b="1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Not human validation.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FDF87-5A0F-4B4F-B59C-B9138D05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No autonomous assay termination. Prospective transfer remains the next experiment.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B4AC3-A790-4E36-BC39-8C7D0004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F79D5-D5EC-44DE-B9DB-392425F6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1905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66D1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F66D1"/>
                </a:solidFill>
                <a:latin typeface="Georgia"/>
                <a:ea typeface="Georgia"/>
                <a:cs typeface="Georgia"/>
              </a:rPr>
              <a:t>136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FA6E8-DB0E-4459-B12D-D1304C29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CANONICAL CHEMICALS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E4AD15-CE54-430B-ABD6-D886BF08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19650"/>
            <a:ext cx="1905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4,192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E8ECC3-D1E3-4509-9559-8B1BD07D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14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COMPLETE TRAJECTORIES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22DD96-B89F-4804-8A02-0125E28D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19650"/>
            <a:ext cx="1905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99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55B55-F278-4572-96A9-572A5551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314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PLATES / BATCHES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486982-9A22-4E7C-9D7E-EB844F3B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19650"/>
            <a:ext cx="1905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CF5B6D-B492-454B-B8F8-012397E9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314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COHORTS</a:t>
            </a:r>
          </a:p>
        </p:txBody>
      </p:sp>
    </p:spTree>
    <p:extLst>
      <p:ext uri="{BB962C8B-B14F-4D97-AF65-F5344CB8AC3E}">
        <p14:creationId xmlns:p14="http://schemas.microsoft.com/office/powerpoint/2010/main" val="5224094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4DDE737-C832-45CF-B45E-FAFC97E8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B2E348F-D0AF-4DC4-BA97-97C43686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D1"/>
          </a:solidFill>
          <a:ln xmlns:a="http://schemas.openxmlformats.org/drawingml/2006/main" w="0">
            <a:solidFill>
              <a:srgbClr val="1F66D1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2D401B5-FF9A-485A-B823-C8A68C4F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 V A L U A T I O N   A R C H I T E C T U R E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481863A-1DB9-4C0E-BFCF-28C6953A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83A58FFF-C841-4FE4-B6F4-1271D81B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3 seeds × 5 outer folds • inner selection only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22F22F5-9EE2-4A36-A94A-1BF1F355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7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0DAA8B6-7918-49F1-9741-4F452A15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Chemical identity never crosses the outer split.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F4E01B05-474E-4836-8B11-97AFCEA0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2000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F8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842ED-462A-4F6C-BA17-39A39FF1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66D1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F66D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ECF3A-6CE0-46C6-BEB6-3E10E430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CANONICALIZE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A047A-51D1-4961-94A1-C1505C8E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CAS RN groups aliases, doses, wells, and replicates.</a:t>
            </a:r>
          </a:p>
        </p:txBody>
      </p:sp>
      <p:sp>
        <p:nvSpPr>
          <p:cNvPr id="12" name="time-connector-1">
            <a:extLst xmlns:a="http://schemas.openxmlformats.org/drawingml/2006/main">
              <a:ext uri="{FF2B5EF4-FFF2-40B4-BE49-F238E27FC236}">
                <a16:creationId xmlns:a16="http://schemas.microsoft.com/office/drawing/2014/main" id="{A091652C-E4CD-48FB-941F-CC375CCF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62300"/>
            <a:ext cx="21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D1"/>
          </a:solidFill>
          <a:ln xmlns:a="http://schemas.openxmlformats.org/drawingml/2006/main" w="0">
            <a:solidFill>
              <a:srgbClr val="1F66D1"/>
            </a:solidFill>
            <a:prstDash val="solid"/>
          </a:ln>
        </p:spPr>
      </p:sp>
      <p:sp>
        <p:nvSpPr>
          <p:cNvPr id="13" name="time-connector-1-head">
            <a:extLst xmlns:a="http://schemas.openxmlformats.org/drawingml/2006/main">
              <a:ext uri="{FF2B5EF4-FFF2-40B4-BE49-F238E27FC236}">
                <a16:creationId xmlns:a16="http://schemas.microsoft.com/office/drawing/2014/main" id="{2C0A44AD-FB40-499A-9C9B-133B4546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14675"/>
            <a:ext cx="95250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66D1"/>
          </a:solidFill>
          <a:ln xmlns:a="http://schemas.openxmlformats.org/drawingml/2006/main" w="0">
            <a:solidFill>
              <a:srgbClr val="1F66D1"/>
            </a:solidFill>
            <a:prstDash val="solid"/>
          </a:ln>
        </p:spPr>
      </p:sp>
      <p:sp>
        <p:nvSpPr>
          <p:cNvPr id="14" name="stage-2">
            <a:extLst xmlns:a="http://schemas.openxmlformats.org/drawingml/2006/main">
              <a:ext uri="{FF2B5EF4-FFF2-40B4-BE49-F238E27FC236}">
                <a16:creationId xmlns:a16="http://schemas.microsoft.com/office/drawing/2014/main" id="{5B872510-784F-440D-AA1D-2572D2EF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47900"/>
            <a:ext cx="22860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EB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70FFD-C457-4FEF-B2F6-7B5044F9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574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66D1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F66D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E35D4-1802-473D-80DF-256CF759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527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OUTER GROUP SPLIT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32D3E5-DD73-44DA-910E-CBC4F4F9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337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Unseen chemicals only in the held-out test fold.</a:t>
            </a:r>
          </a:p>
        </p:txBody>
      </p:sp>
      <p:sp>
        <p:nvSpPr>
          <p:cNvPr id="18" name="time-connector-2">
            <a:extLst xmlns:a="http://schemas.openxmlformats.org/drawingml/2006/main">
              <a:ext uri="{FF2B5EF4-FFF2-40B4-BE49-F238E27FC236}">
                <a16:creationId xmlns:a16="http://schemas.microsoft.com/office/drawing/2014/main" id="{97FC9E93-8068-4872-AC3D-20DF3E1E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62300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D1"/>
          </a:solidFill>
          <a:ln xmlns:a="http://schemas.openxmlformats.org/drawingml/2006/main" w="0">
            <a:solidFill>
              <a:srgbClr val="1F66D1"/>
            </a:solidFill>
            <a:prstDash val="solid"/>
          </a:ln>
        </p:spPr>
      </p:sp>
      <p:sp>
        <p:nvSpPr>
          <p:cNvPr id="19" name="time-connector-2-head">
            <a:extLst xmlns:a="http://schemas.openxmlformats.org/drawingml/2006/main">
              <a:ext uri="{FF2B5EF4-FFF2-40B4-BE49-F238E27FC236}">
                <a16:creationId xmlns:a16="http://schemas.microsoft.com/office/drawing/2014/main" id="{7FE4499A-38D5-4A09-B2C0-D06847DB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14675"/>
            <a:ext cx="95250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66D1"/>
          </a:solidFill>
          <a:ln xmlns:a="http://schemas.openxmlformats.org/drawingml/2006/main" w="0">
            <a:solidFill>
              <a:srgbClr val="1F66D1"/>
            </a:solidFill>
            <a:prstDash val="solid"/>
          </a:ln>
        </p:spPr>
      </p:sp>
      <p:sp>
        <p:nvSpPr>
          <p:cNvPr id="20" name="stage-3">
            <a:extLst xmlns:a="http://schemas.openxmlformats.org/drawingml/2006/main">
              <a:ext uri="{FF2B5EF4-FFF2-40B4-BE49-F238E27FC236}">
                <a16:creationId xmlns:a16="http://schemas.microsoft.com/office/drawing/2014/main" id="{FEBF31C7-9CEC-4783-A29E-6A9DAA69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22860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C9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D9821E-7CC7-4072-AF03-2B631C45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66D1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F66D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5EA880-F19D-4A64-907C-974526C9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INNER GROUP CV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86A4A9-37AB-4D86-BF77-D3C64236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Choose baseline and hyperparameters without test labels.</a:t>
            </a:r>
          </a:p>
        </p:txBody>
      </p:sp>
      <p:sp>
        <p:nvSpPr>
          <p:cNvPr id="24" name="time-connector-3">
            <a:extLst xmlns:a="http://schemas.openxmlformats.org/drawingml/2006/main">
              <a:ext uri="{FF2B5EF4-FFF2-40B4-BE49-F238E27FC236}">
                <a16:creationId xmlns:a16="http://schemas.microsoft.com/office/drawing/2014/main" id="{DB7C0C3F-9008-40C1-8023-5DFE9592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62300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D1"/>
          </a:solidFill>
          <a:ln xmlns:a="http://schemas.openxmlformats.org/drawingml/2006/main" w="0">
            <a:solidFill>
              <a:srgbClr val="1F66D1"/>
            </a:solidFill>
            <a:prstDash val="solid"/>
          </a:ln>
        </p:spPr>
      </p:sp>
      <p:sp>
        <p:nvSpPr>
          <p:cNvPr id="25" name="time-connector-3-head">
            <a:extLst xmlns:a="http://schemas.openxmlformats.org/drawingml/2006/main">
              <a:ext uri="{FF2B5EF4-FFF2-40B4-BE49-F238E27FC236}">
                <a16:creationId xmlns:a16="http://schemas.microsoft.com/office/drawing/2014/main" id="{F3599BB5-DCEA-4DDE-82E3-11404799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14675"/>
            <a:ext cx="95250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66D1"/>
          </a:solidFill>
          <a:ln xmlns:a="http://schemas.openxmlformats.org/drawingml/2006/main" w="0">
            <a:solidFill>
              <a:srgbClr val="1F66D1"/>
            </a:solidFill>
            <a:prstDash val="solid"/>
          </a:ln>
        </p:spPr>
      </p:sp>
      <p:sp>
        <p:nvSpPr>
          <p:cNvPr id="26" name="stage-4">
            <a:extLst xmlns:a="http://schemas.openxmlformats.org/drawingml/2006/main">
              <a:ext uri="{FF2B5EF4-FFF2-40B4-BE49-F238E27FC236}">
                <a16:creationId xmlns:a16="http://schemas.microsoft.com/office/drawing/2014/main" id="{8429273F-7D55-46C8-92A4-61C560F8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3812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ED8"/>
          </a:solidFill>
          <a:ln xmlns:a="http://schemas.openxmlformats.org/drawingml/2006/main" w="9525">
            <a:solidFill>
              <a:srgbClr val="E35D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FB5000-052A-4856-AD38-D4F59515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35D45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E35D4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3B8D9C-EF52-4ED2-AECF-AF547A92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52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ONE-SHOT TEST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978375-EB2B-4625-826E-35945246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Predict DIV12; estimate uncertainty; never tune back.</a:t>
            </a:r>
          </a:p>
        </p:txBody>
      </p:sp>
      <p:sp>
        <p:nvSpPr>
          <p:cNvPr id="30" name="causality-contract">
            <a:extLst xmlns:a="http://schemas.openxmlformats.org/drawingml/2006/main">
              <a:ext uri="{FF2B5EF4-FFF2-40B4-BE49-F238E27FC236}">
                <a16:creationId xmlns:a16="http://schemas.microsoft.com/office/drawing/2014/main" id="{34D0765A-2161-47FD-9E3E-164AC3D0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24400"/>
            <a:ext cx="895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0">
            <a:solidFill>
              <a:srgbClr val="101A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3F6FB2-4756-47FF-A898-00256BF8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5B39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5B39D"/>
                </a:solidFill>
                <a:latin typeface="Aptos"/>
                <a:ea typeface="Aptos"/>
                <a:cs typeface="Aptos"/>
              </a:rPr>
              <a:t>ALLOWED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FF8D08-DA22-41F5-B2FE-9F02C4CA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91125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DIV5 + DIV7 physiology • dose • cohort • structure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3E0240-931B-4E6F-AD92-931A61D3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339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35D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35D45"/>
                </a:solidFill>
                <a:latin typeface="Aptos"/>
                <a:ea typeface="Aptos"/>
                <a:cs typeface="Aptos"/>
              </a:rPr>
              <a:t>FORBIDDEN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E0B6D7-3E81-4248-8D78-73F77F93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91125"/>
            <a:ext cx="352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DIV9/DIV12 features • potency • hit calls</a:t>
            </a:r>
          </a:p>
        </p:txBody>
      </p:sp>
    </p:spTree>
    <p:extLst>
      <p:ext uri="{BB962C8B-B14F-4D97-AF65-F5344CB8AC3E}">
        <p14:creationId xmlns:p14="http://schemas.microsoft.com/office/powerpoint/2010/main" val="7993498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73C3241-A380-4AE9-941B-B236BD7E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E6D5266-0248-4C12-9825-11AD71A1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D1"/>
          </a:solidFill>
          <a:ln xmlns:a="http://schemas.openxmlformats.org/drawingml/2006/main" w="0">
            <a:solidFill>
              <a:srgbClr val="1F66D1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26B01C9-7B34-4D9F-853F-466556E6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H E L D - O U T   P E R F O R M A N C E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CAAB067-E9C1-4C24-849E-EAA845E2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68175AD-74D9-4E98-B447-7A9A1E4A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results/gate_s_main.csv • chemical-level paired bootstrap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CF033D9-DEE9-45A9-B0DD-24F78704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7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48115E7-DE31-47C8-B0CD-21434BFA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00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M1 beats the fair comparator on all five endpoints.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A638A-A204-4FAE-9136-FB5A665C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714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ACTIVE ELECTRODES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BC0A5-7C26-4A3D-BB6B-7D423B50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DB"/>
          </a:solidFill>
          <a:ln xmlns:a="http://schemas.openxmlformats.org/drawingml/2006/main" w="0">
            <a:solidFill>
              <a:srgbClr val="E5E2DB"/>
            </a:solidFill>
            <a:prstDash val="solid"/>
          </a:ln>
        </p:spPr>
      </p:sp>
      <p:sp>
        <p:nvSpPr>
          <p:cNvPr id="10" name="gain-bar-1">
            <a:extLst xmlns:a="http://schemas.openxmlformats.org/drawingml/2006/main">
              <a:ext uri="{FF2B5EF4-FFF2-40B4-BE49-F238E27FC236}">
                <a16:creationId xmlns:a16="http://schemas.microsoft.com/office/drawing/2014/main" id="{34AF6040-AA67-40D5-BA1D-DD85A31F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574901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D1"/>
          </a:solidFill>
          <a:ln xmlns:a="http://schemas.openxmlformats.org/drawingml/2006/main" w="0">
            <a:solidFill>
              <a:srgbClr val="1F66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1CC0B-585A-468B-93D1-E1958AD5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574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6D1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F66D1"/>
                </a:solidFill>
                <a:latin typeface="Georgia"/>
                <a:ea typeface="Georgia"/>
                <a:cs typeface="Georgia"/>
              </a:rPr>
              <a:t>39.0%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09809-172B-4A0A-A440-A54A7FE1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95% CI below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2B28F-9EFA-41D6-9EFB-E0423BA2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2714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COORDINATED ACTIVITY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2844D9-FE5C-44B1-8754-1FCBDF01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003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DB"/>
          </a:solidFill>
          <a:ln xmlns:a="http://schemas.openxmlformats.org/drawingml/2006/main" w="0">
            <a:solidFill>
              <a:srgbClr val="E5E2DB"/>
            </a:solidFill>
            <a:prstDash val="solid"/>
          </a:ln>
        </p:spPr>
      </p:sp>
      <p:sp>
        <p:nvSpPr>
          <p:cNvPr id="15" name="gain-bar-2">
            <a:extLst xmlns:a="http://schemas.openxmlformats.org/drawingml/2006/main">
              <a:ext uri="{FF2B5EF4-FFF2-40B4-BE49-F238E27FC236}">
                <a16:creationId xmlns:a16="http://schemas.microsoft.com/office/drawing/2014/main" id="{A9D93EF3-6107-4098-B60B-F3256D27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00350"/>
            <a:ext cx="334622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39D"/>
          </a:solidFill>
          <a:ln xmlns:a="http://schemas.openxmlformats.org/drawingml/2006/main" w="0">
            <a:solidFill>
              <a:srgbClr val="45B39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475FA-D57A-47D3-BEB5-DF048A89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622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B39D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45B39D"/>
                </a:solidFill>
                <a:latin typeface="Georgia"/>
                <a:ea typeface="Georgia"/>
                <a:cs typeface="Georgia"/>
              </a:rPr>
              <a:t>22.7%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4B669-8B3B-4103-A86A-38A007F0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95% CI below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72C8B-C131-4A0B-8DFC-B03E0306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2714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BURSTS /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A93F20-EFF2-4684-B27D-26FB2F28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052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DB"/>
          </a:solidFill>
          <a:ln xmlns:a="http://schemas.openxmlformats.org/drawingml/2006/main" w="0">
            <a:solidFill>
              <a:srgbClr val="E5E2DB"/>
            </a:solidFill>
            <a:prstDash val="solid"/>
          </a:ln>
        </p:spPr>
      </p:sp>
      <p:sp>
        <p:nvSpPr>
          <p:cNvPr id="20" name="gain-bar-3">
            <a:extLst xmlns:a="http://schemas.openxmlformats.org/drawingml/2006/main">
              <a:ext uri="{FF2B5EF4-FFF2-40B4-BE49-F238E27FC236}">
                <a16:creationId xmlns:a16="http://schemas.microsoft.com/office/drawing/2014/main" id="{E3786E37-BF1A-4B10-99BA-E226B9C1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05200"/>
            <a:ext cx="250598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solidFill>
              <a:srgbClr val="E3A7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FAEA9-E839-4D9A-9328-F78F18D7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4671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3A72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E3A72F"/>
                </a:solidFill>
                <a:latin typeface="Georgia"/>
                <a:ea typeface="Georgia"/>
                <a:cs typeface="Georgia"/>
              </a:rPr>
              <a:t>17.0%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62F6D0-55EE-4A98-BC6C-99F9F1C5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95% CI below 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5FE246-F0F3-4A6D-B270-39FCD66F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2714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NETWORK SPIKES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529C3-8ECB-482D-AA7F-3A1759CF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00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DB"/>
          </a:solidFill>
          <a:ln xmlns:a="http://schemas.openxmlformats.org/drawingml/2006/main" w="0">
            <a:solidFill>
              <a:srgbClr val="E5E2DB"/>
            </a:solidFill>
            <a:prstDash val="solid"/>
          </a:ln>
        </p:spPr>
      </p:sp>
      <p:sp>
        <p:nvSpPr>
          <p:cNvPr id="25" name="gain-bar-4">
            <a:extLst xmlns:a="http://schemas.openxmlformats.org/drawingml/2006/main">
              <a:ext uri="{FF2B5EF4-FFF2-40B4-BE49-F238E27FC236}">
                <a16:creationId xmlns:a16="http://schemas.microsoft.com/office/drawing/2014/main" id="{F81C9D16-82D5-4E31-AA58-D3112286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10050"/>
            <a:ext cx="229960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C9"/>
          </a:solidFill>
          <a:ln xmlns:a="http://schemas.openxmlformats.org/drawingml/2006/main" w="0">
            <a:solidFill>
              <a:srgbClr val="7656C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0C2F30-B2FC-483D-BEA0-3C562BC0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1719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656C9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7656C9"/>
                </a:solidFill>
                <a:latin typeface="Georgia"/>
                <a:ea typeface="Georgia"/>
                <a:cs typeface="Georgia"/>
              </a:rPr>
              <a:t>15.6%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E6B06B-C981-44EA-A387-D2EB509E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95% CI below 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EB82D1-88FE-4DD6-B935-E2D71BC1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714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FIRING RATE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B5A8C5-EF95-4918-8CB8-34A7512C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14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DB"/>
          </a:solidFill>
          <a:ln xmlns:a="http://schemas.openxmlformats.org/drawingml/2006/main" w="0">
            <a:solidFill>
              <a:srgbClr val="E5E2DB"/>
            </a:solidFill>
            <a:prstDash val="solid"/>
          </a:ln>
        </p:spPr>
      </p:sp>
      <p:sp>
        <p:nvSpPr>
          <p:cNvPr id="30" name="gain-bar-5">
            <a:extLst xmlns:a="http://schemas.openxmlformats.org/drawingml/2006/main">
              <a:ext uri="{FF2B5EF4-FFF2-40B4-BE49-F238E27FC236}">
                <a16:creationId xmlns:a16="http://schemas.microsoft.com/office/drawing/2014/main" id="{28A23696-3053-412A-8CC3-9D390A1E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14900"/>
            <a:ext cx="209323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5"/>
          </a:solidFill>
          <a:ln xmlns:a="http://schemas.openxmlformats.org/drawingml/2006/main" w="0">
            <a:solidFill>
              <a:srgbClr val="E35D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482A20-094C-4875-9FF5-7ED64485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8768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35D45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E35D45"/>
                </a:solidFill>
                <a:latin typeface="Georgia"/>
                <a:ea typeface="Georgia"/>
                <a:cs typeface="Georgia"/>
              </a:rPr>
              <a:t>14.2%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057DC1-8F81-4CA1-9C02-8CB7932E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95% CI below 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5001E2-D51C-4785-A81A-29436B0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5310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3CE9C6-2B77-4AEF-B69B-82A5F2CF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483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A40E4B-5084-48EF-AF7A-99BE73D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857" y="58483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2090E1-B465-4B11-AE58-6B688F6F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964" y="58483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7B7DF7-8D67-42AC-ABD8-C6D3AA24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071" y="58483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4B02FC-B3B7-40DD-9480-E72A42BD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1179" y="58483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5EF548-1D6F-42B9-A718-8A52BA99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096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RELATIVE MAE GAIN VS INNER-SELECTED BT+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00C95E-A3C7-4915-9D48-E396D072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619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0">
            <a:solidFill>
              <a:srgbClr val="101A2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B7DDCB-CCF7-4C43-A419-C4E53185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19275"/>
            <a:ext cx="2276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5B39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5B39D"/>
                </a:solidFill>
                <a:latin typeface="Aptos"/>
                <a:ea typeface="Aptos"/>
                <a:cs typeface="Aptos"/>
              </a:rPr>
              <a:t>BT++  •  12.3–42.9%</a:t>
            </a:r>
          </a:p>
        </p:txBody>
      </p:sp>
    </p:spTree>
    <p:extLst>
      <p:ext uri="{BB962C8B-B14F-4D97-AF65-F5344CB8AC3E}">
        <p14:creationId xmlns:p14="http://schemas.microsoft.com/office/powerpoint/2010/main" val="684867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856A6E3-B10B-4417-A48A-A071DBFA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0">
            <a:solidFill>
              <a:srgbClr val="101A2B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6FEA04E-CA67-4FDC-8ECB-86338DEC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39D"/>
          </a:solidFill>
          <a:ln xmlns:a="http://schemas.openxmlformats.org/drawingml/2006/main" w="0">
            <a:solidFill>
              <a:srgbClr val="45B39D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2851D7A-3B1B-40CE-A5FF-71EB456A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9B7CA"/>
                </a:solidFill>
                <a:latin typeface="Aptos"/>
                <a:ea typeface="Aptos"/>
                <a:cs typeface="Aptos"/>
              </a:rPr>
              <a:t>I N T E G R I T Y   B E F O R E   N O V E L T Y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AA0E9F1-5B0C-40E5-9168-C7519E85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057"/>
          </a:solidFill>
          <a:ln xmlns:a="http://schemas.openxmlformats.org/drawingml/2006/main" w="0">
            <a:solidFill>
              <a:srgbClr val="304057"/>
            </a:solidFill>
            <a:prstDash val="solid"/>
          </a:ln>
        </p:spPr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26D360F-8FED-4A81-8060-E62F8FFD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A9B7CA"/>
                </a:solidFill>
                <a:latin typeface="Aptos"/>
                <a:ea typeface="Aptos"/>
                <a:cs typeface="Aptos"/>
              </a:rPr>
              <a:t>results/gate_s_decision.json • results/audit/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1FCECD-6D87-4890-ACC9-8B6C9A05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7CA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9B7CA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7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990B0FA-48DB-445B-AE7D-8E472223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failed negative control stopped the pipeline.</a:t>
            </a:r>
          </a:p>
        </p:txBody>
      </p:sp>
      <p:sp>
        <p:nvSpPr>
          <p:cNvPr id="8" name="audit-stage-1">
            <a:extLst xmlns:a="http://schemas.openxmlformats.org/drawingml/2006/main">
              <a:ext uri="{FF2B5EF4-FFF2-40B4-BE49-F238E27FC236}">
                <a16:creationId xmlns:a16="http://schemas.microsoft.com/office/drawing/2014/main" id="{FB50EE47-1CD8-4E54-AEF2-C98670C6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2667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5"/>
          </a:solidFill>
          <a:ln xmlns:a="http://schemas.openxmlformats.org/drawingml/2006/main" w="0">
            <a:solidFill>
              <a:srgbClr val="E35D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8C410-A061-43F0-AD17-6EBAF5BE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REGISTERED STOP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DA114-4C6E-4614-B822-9FF8162E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209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Permutation retained a small burst gain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6DEF1-9891-40F1-A852-4821983B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2209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ΔMAE −0.525</a:t>
            </a:r>
          </a:p>
          <a:p xmlns:a="http://schemas.openxmlformats.org/drawingml/2006/main">
            <a:pPr algn="l">
              <a:defRPr sz="975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CI [−0.969, −0.136]</a:t>
            </a:r>
          </a:p>
        </p:txBody>
      </p:sp>
      <p:sp>
        <p:nvSpPr>
          <p:cNvPr id="12" name="audit-connector-1">
            <a:extLst xmlns:a="http://schemas.openxmlformats.org/drawingml/2006/main">
              <a:ext uri="{FF2B5EF4-FFF2-40B4-BE49-F238E27FC236}">
                <a16:creationId xmlns:a16="http://schemas.microsoft.com/office/drawing/2014/main" id="{51FA3814-83B3-409A-83C3-BF3F0972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81400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audit-connector-1-head">
            <a:extLst xmlns:a="http://schemas.openxmlformats.org/drawingml/2006/main">
              <a:ext uri="{FF2B5EF4-FFF2-40B4-BE49-F238E27FC236}">
                <a16:creationId xmlns:a16="http://schemas.microsoft.com/office/drawing/2014/main" id="{7DAD82A1-D259-460E-9A8E-255237A9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33775"/>
            <a:ext cx="95250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audit-stage-2">
            <a:extLst xmlns:a="http://schemas.openxmlformats.org/drawingml/2006/main">
              <a:ext uri="{FF2B5EF4-FFF2-40B4-BE49-F238E27FC236}">
                <a16:creationId xmlns:a16="http://schemas.microsoft.com/office/drawing/2014/main" id="{B46BFB3B-F933-4BCB-BE0B-1ACE05A3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09800"/>
            <a:ext cx="3429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D"/>
          </a:solidFill>
          <a:ln xmlns:a="http://schemas.openxmlformats.org/drawingml/2006/main" w="0">
            <a:solidFill>
              <a:srgbClr val="2636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7DA06D-239B-40E4-AE4C-8EF3CDC2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5745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5B39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5B39D"/>
                </a:solidFill>
                <a:latin typeface="Aptos"/>
                <a:ea typeface="Aptos"/>
                <a:cs typeface="Aptos"/>
              </a:rPr>
              <a:t>BOUNDED 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E54EB-9283-4D45-890A-8A8297BA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95600"/>
            <a:ext cx="2971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Feature lineage • alignment • full shuffle • 20 block-null runs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D941A-9FAD-4A8E-998F-79EB2264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00500"/>
            <a:ext cx="2971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D1D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6D1DF"/>
                </a:solidFill>
                <a:latin typeface="Aptos"/>
                <a:ea typeface="Aptos"/>
                <a:cs typeface="Aptos"/>
              </a:rPr>
              <a:t>No leakage found</a:t>
            </a:r>
          </a:p>
          <a:p xmlns:a="http://schemas.openxmlformats.org/drawingml/2006/main">
            <a:pPr algn="l">
              <a:defRPr sz="975" b="1">
                <a:solidFill>
                  <a:srgbClr val="C6D1D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6D1DF"/>
                </a:solidFill>
                <a:latin typeface="Aptos"/>
                <a:ea typeface="Aptos"/>
                <a:cs typeface="Aptos"/>
              </a:rPr>
              <a:t>Full shuffle clean</a:t>
            </a:r>
          </a:p>
        </p:txBody>
      </p:sp>
      <p:sp>
        <p:nvSpPr>
          <p:cNvPr id="18" name="audit-connector-2">
            <a:extLst xmlns:a="http://schemas.openxmlformats.org/drawingml/2006/main">
              <a:ext uri="{FF2B5EF4-FFF2-40B4-BE49-F238E27FC236}">
                <a16:creationId xmlns:a16="http://schemas.microsoft.com/office/drawing/2014/main" id="{97A0BF1D-8C7E-445A-A7E3-4304EC7E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81400"/>
            <a:ext cx="390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audit-connector-2-head">
            <a:extLst xmlns:a="http://schemas.openxmlformats.org/drawingml/2006/main">
              <a:ext uri="{FF2B5EF4-FFF2-40B4-BE49-F238E27FC236}">
                <a16:creationId xmlns:a16="http://schemas.microsoft.com/office/drawing/2014/main" id="{DD7692E9-1B9C-4EBC-8E52-B0303CBF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33775"/>
            <a:ext cx="95250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audit-stage-3">
            <a:extLst xmlns:a="http://schemas.openxmlformats.org/drawingml/2006/main">
              <a:ext uri="{FF2B5EF4-FFF2-40B4-BE49-F238E27FC236}">
                <a16:creationId xmlns:a16="http://schemas.microsoft.com/office/drawing/2014/main" id="{DC10F415-AF94-4A3C-A651-FACBE381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524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39D"/>
          </a:solidFill>
          <a:ln xmlns:a="http://schemas.openxmlformats.org/drawingml/2006/main" w="0">
            <a:solidFill>
              <a:srgbClr val="45B39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4EF6E6-77CC-44E3-A057-7C741307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3067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CONDITIONAL CONTINUATION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B56725-6E21-4F72-B885-F76EE05C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95600"/>
            <a:ext cx="3067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Real M1 exceeds every null run on all five endpoints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74CA20-EB82-48AD-9108-4DEA70B3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3067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BT++ required</a:t>
            </a:r>
          </a:p>
          <a:p xmlns:a="http://schemas.openxmlformats.org/drawingml/2006/main">
            <a:pPr algn="l">
              <a:defRPr sz="975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Original STOP retained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D66676-7D38-4B59-A7A0-C7A6B861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audit explains the null structure; it does not erase the registered failure.</a:t>
            </a:r>
          </a:p>
        </p:txBody>
      </p:sp>
    </p:spTree>
    <p:extLst>
      <p:ext uri="{BB962C8B-B14F-4D97-AF65-F5344CB8AC3E}">
        <p14:creationId xmlns:p14="http://schemas.microsoft.com/office/powerpoint/2010/main" val="7100615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30F4A68-8B63-4C32-B497-030E4C3D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7CA2A0C-CF70-4A6F-A156-71EC99E8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D1"/>
          </a:solidFill>
          <a:ln xmlns:a="http://schemas.openxmlformats.org/drawingml/2006/main" w="0">
            <a:solidFill>
              <a:srgbClr val="1F66D1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B54B5FF-A304-4A82-8B79-A1AA514A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 A L I B R A T I O N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3D06D04-4449-40CA-AB24-2B237FE5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A6DCC874-EBDC-46E4-9ABE-05B007CE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results/m2_calibration.csv • nested group CV+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571F677-6C8B-4EC0-B41E-429217D3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7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70F3C7B-0E55-4A02-9E42-A176FD28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Nominal 90% intervals cover 91.0–92.4%.</a:t>
            </a:r>
          </a:p>
        </p:txBody>
      </p:sp>
      <p:sp>
        <p:nvSpPr>
          <p:cNvPr id="8" name="nominal-line">
            <a:extLst xmlns:a="http://schemas.openxmlformats.org/drawingml/2006/main">
              <a:ext uri="{FF2B5EF4-FFF2-40B4-BE49-F238E27FC236}">
                <a16:creationId xmlns:a16="http://schemas.microsoft.com/office/drawing/2014/main" id="{AAD87F84-2378-4E8F-BD13-A0936C32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621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5"/>
          </a:solidFill>
          <a:ln xmlns:a="http://schemas.openxmlformats.org/drawingml/2006/main" w="0">
            <a:solidFill>
              <a:srgbClr val="E35D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7CE0A-6391-49E0-B572-86AFE304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695450"/>
            <a:ext cx="904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E35D4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5D45"/>
                </a:solidFill>
                <a:latin typeface="Aptos"/>
                <a:ea typeface="Aptos"/>
                <a:cs typeface="Aptos"/>
              </a:rPr>
              <a:t>90% nominal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F216B-1901-421C-8873-8646C257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BURSTS / MIN</a:t>
            </a:r>
          </a:p>
        </p:txBody>
      </p:sp>
      <p:sp>
        <p:nvSpPr>
          <p:cNvPr id="11" name="coverage-axis-1">
            <a:extLst xmlns:a="http://schemas.openxmlformats.org/drawingml/2006/main">
              <a:ext uri="{FF2B5EF4-FFF2-40B4-BE49-F238E27FC236}">
                <a16:creationId xmlns:a16="http://schemas.microsoft.com/office/drawing/2014/main" id="{973A6AE0-C4CA-4147-8F9A-F699212D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193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2" name="coverage-dot-1">
            <a:extLst xmlns:a="http://schemas.openxmlformats.org/drawingml/2006/main">
              <a:ext uri="{FF2B5EF4-FFF2-40B4-BE49-F238E27FC236}">
                <a16:creationId xmlns:a16="http://schemas.microsoft.com/office/drawing/2014/main" id="{0B0ACFDE-71CB-4A46-915C-815472A5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343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6D1"/>
          </a:solidFill>
          <a:ln xmlns:a="http://schemas.openxmlformats.org/drawingml/2006/main" w="0">
            <a:solidFill>
              <a:srgbClr val="1F66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2E95B-9938-4B9F-AC95-6A8544E7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66D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6D1"/>
                </a:solidFill>
                <a:latin typeface="Aptos"/>
                <a:ea typeface="Aptos"/>
                <a:cs typeface="Aptos"/>
              </a:rPr>
              <a:t>91.08%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66CB8-24A9-4B45-A64E-8BA87579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432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FIRING RATE</a:t>
            </a:r>
          </a:p>
        </p:txBody>
      </p:sp>
      <p:sp>
        <p:nvSpPr>
          <p:cNvPr id="15" name="coverage-axis-2">
            <a:extLst xmlns:a="http://schemas.openxmlformats.org/drawingml/2006/main">
              <a:ext uri="{FF2B5EF4-FFF2-40B4-BE49-F238E27FC236}">
                <a16:creationId xmlns:a16="http://schemas.microsoft.com/office/drawing/2014/main" id="{3B1436E5-F8B4-4846-82BA-D96F51D8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6" name="coverage-dot-2">
            <a:extLst xmlns:a="http://schemas.openxmlformats.org/drawingml/2006/main">
              <a:ext uri="{FF2B5EF4-FFF2-40B4-BE49-F238E27FC236}">
                <a16:creationId xmlns:a16="http://schemas.microsoft.com/office/drawing/2014/main" id="{E0C9D840-B66E-418E-86E5-10FD3601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491" y="2990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B39D"/>
          </a:solidFill>
          <a:ln xmlns:a="http://schemas.openxmlformats.org/drawingml/2006/main" w="0">
            <a:solidFill>
              <a:srgbClr val="45B39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F78B6-45DF-4C83-95CA-B24C31D8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116" y="32385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B39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5B39D"/>
                </a:solidFill>
                <a:latin typeface="Aptos"/>
                <a:ea typeface="Aptos"/>
                <a:cs typeface="Aptos"/>
              </a:rPr>
              <a:t>91.53%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9B844-4251-4481-98C0-E4D06A6B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ACTIVE ELECTRODES</a:t>
            </a:r>
          </a:p>
        </p:txBody>
      </p:sp>
      <p:sp>
        <p:nvSpPr>
          <p:cNvPr id="19" name="coverage-axis-3">
            <a:extLst xmlns:a="http://schemas.openxmlformats.org/drawingml/2006/main">
              <a:ext uri="{FF2B5EF4-FFF2-40B4-BE49-F238E27FC236}">
                <a16:creationId xmlns:a16="http://schemas.microsoft.com/office/drawing/2014/main" id="{5C6F1EE6-8395-41DE-9CE2-C5C722EC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0" name="coverage-dot-3">
            <a:extLst xmlns:a="http://schemas.openxmlformats.org/drawingml/2006/main">
              <a:ext uri="{FF2B5EF4-FFF2-40B4-BE49-F238E27FC236}">
                <a16:creationId xmlns:a16="http://schemas.microsoft.com/office/drawing/2014/main" id="{6D958074-E044-4155-BB42-E6983827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4178" y="3638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solidFill>
              <a:srgbClr val="E3A7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16762D-F552-4E94-BF6E-3016CD57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803" y="38862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3A7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A72F"/>
                </a:solidFill>
                <a:latin typeface="Aptos"/>
                <a:ea typeface="Aptos"/>
                <a:cs typeface="Aptos"/>
              </a:rPr>
              <a:t>92.13%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8FED8-5ED2-4819-858F-8C2717F4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NETWORK SPIKES</a:t>
            </a:r>
          </a:p>
        </p:txBody>
      </p:sp>
      <p:sp>
        <p:nvSpPr>
          <p:cNvPr id="23" name="coverage-axis-4">
            <a:extLst xmlns:a="http://schemas.openxmlformats.org/drawingml/2006/main">
              <a:ext uri="{FF2B5EF4-FFF2-40B4-BE49-F238E27FC236}">
                <a16:creationId xmlns:a16="http://schemas.microsoft.com/office/drawing/2014/main" id="{916930FB-7656-45E2-859C-92E9A568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624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4" name="coverage-dot-4">
            <a:extLst xmlns:a="http://schemas.openxmlformats.org/drawingml/2006/main">
              <a:ext uri="{FF2B5EF4-FFF2-40B4-BE49-F238E27FC236}">
                <a16:creationId xmlns:a16="http://schemas.microsoft.com/office/drawing/2014/main" id="{84A3C449-A79A-4140-88D9-C1C4B954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584" y="4286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6C9"/>
          </a:solidFill>
          <a:ln xmlns:a="http://schemas.openxmlformats.org/drawingml/2006/main" w="0">
            <a:solidFill>
              <a:srgbClr val="7656C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D3CFF-A22E-448C-8F3B-ABA1037D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209" y="45339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656C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656C9"/>
                </a:solidFill>
                <a:latin typeface="Aptos"/>
                <a:ea typeface="Aptos"/>
                <a:cs typeface="Aptos"/>
              </a:rPr>
              <a:t>91.03%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A3F6DA-CAE5-4E3E-84D2-F2128F19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863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COORDINATED ACTIVITY</a:t>
            </a:r>
          </a:p>
        </p:txBody>
      </p:sp>
      <p:sp>
        <p:nvSpPr>
          <p:cNvPr id="27" name="coverage-axis-5">
            <a:extLst xmlns:a="http://schemas.openxmlformats.org/drawingml/2006/main">
              <a:ext uri="{FF2B5EF4-FFF2-40B4-BE49-F238E27FC236}">
                <a16:creationId xmlns:a16="http://schemas.microsoft.com/office/drawing/2014/main" id="{FC30EAC7-898C-4823-BF6F-A28DFDA4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101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28" name="coverage-dot-5">
            <a:extLst xmlns:a="http://schemas.openxmlformats.org/drawingml/2006/main">
              <a:ext uri="{FF2B5EF4-FFF2-40B4-BE49-F238E27FC236}">
                <a16:creationId xmlns:a16="http://schemas.microsoft.com/office/drawing/2014/main" id="{EE3A19F1-CD4B-44A0-9BF3-DE5E7D59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49339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5D45"/>
          </a:solidFill>
          <a:ln xmlns:a="http://schemas.openxmlformats.org/drawingml/2006/main" w="0">
            <a:solidFill>
              <a:srgbClr val="E35D4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FF04FA-244D-4786-ACDA-01C81221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5181600"/>
            <a:ext cx="83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35D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5D45"/>
                </a:solidFill>
                <a:latin typeface="Aptos"/>
                <a:ea typeface="Aptos"/>
                <a:cs typeface="Aptos"/>
              </a:rPr>
              <a:t>92.40%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E1A1A0-B16B-4310-901C-41A222D6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769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89%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361D5D-1AB0-4DE9-B0DF-58A7151D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56769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90%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919A98-48DB-4BEF-B88A-80CA05D0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6769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91%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28DF18-1C13-412D-9908-D274804B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138" y="56769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92%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5867EC-59E6-45F5-99B6-1CC14CC5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769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93%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A7127F-89ED-4054-AD4B-E54A00B3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669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0">
            <a:solidFill>
              <a:srgbClr val="101A2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1955F9-AB91-40E6-A609-43ECA7AE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002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5B39D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45B39D"/>
                </a:solidFill>
                <a:latin typeface="Georgia"/>
                <a:ea typeface="Georgia"/>
                <a:cs typeface="Georgia"/>
              </a:rPr>
              <a:t>90.36%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B8AC73-F456-4922-9142-D8B0CAEF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14575"/>
            <a:ext cx="1447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C3CEDA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C3CEDA"/>
                </a:solidFill>
                <a:latin typeface="Aptos"/>
                <a:ea typeface="Aptos"/>
                <a:cs typeface="Aptos"/>
              </a:rPr>
              <a:t>minimum cohort coverage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319035-9058-45A0-AD8A-4B916734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960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No CQR switch needed</a:t>
            </a:r>
          </a:p>
        </p:txBody>
      </p:sp>
    </p:spTree>
    <p:extLst>
      <p:ext uri="{BB962C8B-B14F-4D97-AF65-F5344CB8AC3E}">
        <p14:creationId xmlns:p14="http://schemas.microsoft.com/office/powerpoint/2010/main" val="7348828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3154E20-DF0D-4E16-A4FA-54745AB8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9F37130-7E0C-4A5F-B42A-280FBBC8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D1"/>
          </a:solidFill>
          <a:ln xmlns:a="http://schemas.openxmlformats.org/drawingml/2006/main" w="0">
            <a:solidFill>
              <a:srgbClr val="1F66D1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973C39A-5780-4F0F-ADEC-2CEB43B8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 E L E C T I V E   P R E D I C T I O N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E36B599-38BB-4DC8-B223-5EDB8FF4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61A6FF4F-C638-4876-AF34-D093A365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results/m3_risk_coverage.csv • 70% retained coverage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7B630C-8AC2-4C59-A1FA-153D78BF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7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3F6F313-DE65-4477-A60D-27C5EB96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Abstention helps three endpoints—not five.</a:t>
            </a:r>
          </a:p>
        </p:txBody>
      </p:sp>
      <p:sp>
        <p:nvSpPr>
          <p:cNvPr id="8" name="threshold-line">
            <a:extLst xmlns:a="http://schemas.openxmlformats.org/drawingml/2006/main">
              <a:ext uri="{FF2B5EF4-FFF2-40B4-BE49-F238E27FC236}">
                <a16:creationId xmlns:a16="http://schemas.microsoft.com/office/drawing/2014/main" id="{6FCFAA42-9D10-4191-9072-624C106E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648" y="19240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solidFill>
              <a:srgbClr val="E3A7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E35EA-BAC5-4E4B-BD09-6BDA991D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648" y="167640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E3A72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A72F"/>
                </a:solidFill>
                <a:latin typeface="Aptos"/>
                <a:ea typeface="Aptos"/>
                <a:cs typeface="Aptos"/>
              </a:rPr>
              <a:t>15%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24D6E-4D58-4667-BEFD-29EB7E7A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COORDINATED ACTIVITY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7DCE7-99F1-4FA4-A4EE-9B419A1C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62175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0D9"/>
          </a:solidFill>
          <a:ln xmlns:a="http://schemas.openxmlformats.org/drawingml/2006/main" w="0">
            <a:solidFill>
              <a:srgbClr val="E3E0D9"/>
            </a:solidFill>
            <a:prstDash val="solid"/>
          </a:ln>
        </p:spPr>
      </p:sp>
      <p:sp>
        <p:nvSpPr>
          <p:cNvPr id="12" name="risk-bar-1">
            <a:extLst xmlns:a="http://schemas.openxmlformats.org/drawingml/2006/main">
              <a:ext uri="{FF2B5EF4-FFF2-40B4-BE49-F238E27FC236}">
                <a16:creationId xmlns:a16="http://schemas.microsoft.com/office/drawing/2014/main" id="{B7DECA8A-7775-47DC-8CB6-75E5DFC8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62175"/>
            <a:ext cx="5494734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39D"/>
          </a:solidFill>
          <a:ln xmlns:a="http://schemas.openxmlformats.org/drawingml/2006/main" w="0">
            <a:solidFill>
              <a:srgbClr val="45B39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43F4E-D41A-4B7A-B3C3-03848E7C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2407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5B39D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45B39D"/>
                </a:solidFill>
                <a:latin typeface="Georgia"/>
                <a:ea typeface="Georgia"/>
                <a:cs typeface="Georgia"/>
              </a:rPr>
              <a:t>28.4%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1EAAB-9B08-4A68-9A9C-EFE48DE2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45B39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5B39D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BFDB1-B67E-4E58-8639-DE244D4F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FIRING 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0F4BC-D919-4313-BCBB-95EA7AC6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47975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0D9"/>
          </a:solidFill>
          <a:ln xmlns:a="http://schemas.openxmlformats.org/drawingml/2006/main" w="0">
            <a:solidFill>
              <a:srgbClr val="E3E0D9"/>
            </a:solidFill>
            <a:prstDash val="solid"/>
          </a:ln>
        </p:spPr>
      </p:sp>
      <p:sp>
        <p:nvSpPr>
          <p:cNvPr id="17" name="risk-bar-2">
            <a:extLst xmlns:a="http://schemas.openxmlformats.org/drawingml/2006/main">
              <a:ext uri="{FF2B5EF4-FFF2-40B4-BE49-F238E27FC236}">
                <a16:creationId xmlns:a16="http://schemas.microsoft.com/office/drawing/2014/main" id="{A146A8F9-28BF-45D0-91AA-8C9E21CD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47975"/>
            <a:ext cx="3656707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39D"/>
          </a:solidFill>
          <a:ln xmlns:a="http://schemas.openxmlformats.org/drawingml/2006/main" w="0">
            <a:solidFill>
              <a:srgbClr val="45B39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BE6E7-8E20-47A4-8C36-6C35E491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0987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5B39D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45B39D"/>
                </a:solidFill>
                <a:latin typeface="Georgia"/>
                <a:ea typeface="Georgia"/>
                <a:cs typeface="Georgia"/>
              </a:rPr>
              <a:t>18.9%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6FFB7-35C5-46EA-8534-3882887A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45B39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5B39D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F4F34-94EC-4BAF-AEA3-0B3DB614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ACTIVE ELECTRODES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50245-0DE9-4112-B5AD-91CCF945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33775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0D9"/>
          </a:solidFill>
          <a:ln xmlns:a="http://schemas.openxmlformats.org/drawingml/2006/main" w="0">
            <a:solidFill>
              <a:srgbClr val="E3E0D9"/>
            </a:solidFill>
            <a:prstDash val="solid"/>
          </a:ln>
        </p:spPr>
      </p:sp>
      <p:sp>
        <p:nvSpPr>
          <p:cNvPr id="22" name="risk-bar-3">
            <a:extLst xmlns:a="http://schemas.openxmlformats.org/drawingml/2006/main">
              <a:ext uri="{FF2B5EF4-FFF2-40B4-BE49-F238E27FC236}">
                <a16:creationId xmlns:a16="http://schemas.microsoft.com/office/drawing/2014/main" id="{BD58D53A-3011-4DA2-A265-BF5CE19B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33775"/>
            <a:ext cx="3482578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39D"/>
          </a:solidFill>
          <a:ln xmlns:a="http://schemas.openxmlformats.org/drawingml/2006/main" w="0">
            <a:solidFill>
              <a:srgbClr val="45B39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13FD4-102D-4FAF-A524-17B4A05F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9567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5B39D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45B39D"/>
                </a:solidFill>
                <a:latin typeface="Georgia"/>
                <a:ea typeface="Georgia"/>
                <a:cs typeface="Georgia"/>
              </a:rPr>
              <a:t>18.0%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023699-926E-44D8-B72F-58F3DC48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45B39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45B39D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157B95-B91D-46B0-BDDA-9D7D93DB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NETWORK SPIKES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091741-234E-41CC-9591-B7D5DC7F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9575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0D9"/>
          </a:solidFill>
          <a:ln xmlns:a="http://schemas.openxmlformats.org/drawingml/2006/main" w="0">
            <a:solidFill>
              <a:srgbClr val="E3E0D9"/>
            </a:solidFill>
            <a:prstDash val="solid"/>
          </a:ln>
        </p:spPr>
      </p:sp>
      <p:sp>
        <p:nvSpPr>
          <p:cNvPr id="27" name="risk-bar-4">
            <a:extLst xmlns:a="http://schemas.openxmlformats.org/drawingml/2006/main">
              <a:ext uri="{FF2B5EF4-FFF2-40B4-BE49-F238E27FC236}">
                <a16:creationId xmlns:a16="http://schemas.microsoft.com/office/drawing/2014/main" id="{BDCC938D-FDE7-4286-89A9-CE7ECFF7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9575"/>
            <a:ext cx="102542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5"/>
          </a:solidFill>
          <a:ln xmlns:a="http://schemas.openxmlformats.org/drawingml/2006/main" w="0">
            <a:solidFill>
              <a:srgbClr val="E35D4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532F1C-22D5-497A-950F-FC4A1B1F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18147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35D45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E35D45"/>
                </a:solidFill>
                <a:latin typeface="Georgia"/>
                <a:ea typeface="Georgia"/>
                <a:cs typeface="Georgia"/>
              </a:rPr>
              <a:t>5.3%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75DE8E-DAD9-40D0-A8FC-F5FB2F17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E35D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E35D45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7C870C-DDBB-43B5-A1AA-A310BD27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BURSTS / MIN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0D6128-4B16-4D4E-B9E3-FA6BA8EB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05375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0D9"/>
          </a:solidFill>
          <a:ln xmlns:a="http://schemas.openxmlformats.org/drawingml/2006/main" w="0">
            <a:solidFill>
              <a:srgbClr val="E3E0D9"/>
            </a:solidFill>
            <a:prstDash val="solid"/>
          </a:ln>
        </p:spPr>
      </p:sp>
      <p:sp>
        <p:nvSpPr>
          <p:cNvPr id="32" name="risk-bar-5">
            <a:extLst xmlns:a="http://schemas.openxmlformats.org/drawingml/2006/main">
              <a:ext uri="{FF2B5EF4-FFF2-40B4-BE49-F238E27FC236}">
                <a16:creationId xmlns:a16="http://schemas.microsoft.com/office/drawing/2014/main" id="{5F232061-0F45-4EF4-B2BB-B00CBE88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05375"/>
            <a:ext cx="889992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45"/>
          </a:solidFill>
          <a:ln xmlns:a="http://schemas.openxmlformats.org/drawingml/2006/main" w="0">
            <a:solidFill>
              <a:srgbClr val="E35D4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F46F76-930B-45E9-81CB-E6FBB4A1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86727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35D45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E35D45"/>
                </a:solidFill>
                <a:latin typeface="Georgia"/>
                <a:ea typeface="Georgia"/>
                <a:cs typeface="Georgia"/>
              </a:rPr>
              <a:t>4.6%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061F49-AE50-4218-8FE9-D72AD250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911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E35D4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E35D45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7A07C9-E317-4200-99C9-B6A8371C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674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Widest 30% of intervals → CONTINUE TO DIV12</a:t>
            </a:r>
          </a:p>
        </p:txBody>
      </p:sp>
    </p:spTree>
    <p:extLst>
      <p:ext uri="{BB962C8B-B14F-4D97-AF65-F5344CB8AC3E}">
        <p14:creationId xmlns:p14="http://schemas.microsoft.com/office/powerpoint/2010/main" val="11109372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16A1FE0-0373-42AC-8EB9-201A71ED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28E488A-BBF9-4509-82CD-C946BF45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D1"/>
          </a:solidFill>
          <a:ln xmlns:a="http://schemas.openxmlformats.org/drawingml/2006/main" w="0">
            <a:solidFill>
              <a:srgbClr val="1F66D1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60B1325-07C1-4BBD-AA42-35B8DB90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 I M E   A B L A T I O N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FA41B02-5ACF-4158-A554-9F1866BA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1CEEF783-8292-4AF0-B9C6-0756A3BB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results/time_ablation.csv • DIV9 is post-lock only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E2D07A-ABB0-4BBC-9C17-74E3C052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7" name="claim-title">
            <a:extLst xmlns:a="http://schemas.openxmlformats.org/drawingml/2006/main">
              <a:ext uri="{FF2B5EF4-FFF2-40B4-BE49-F238E27FC236}">
                <a16:creationId xmlns:a16="http://schemas.microsoft.com/office/drawing/2014/main" id="{835A07DB-611B-4E2F-8D39-BC1837C3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DIV7 is the useful decision point.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B769B-4FD2-4CA7-9D68-32A28C9A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0">
            <a:solidFill>
              <a:srgbClr val="101A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27A42-C4AD-4BB6-8F35-26DD459F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4B271-DBEB-4ACE-A675-C53A67DB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DIV5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585CA-4214-420D-BAA8-4F96B0B3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45B39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45B39D"/>
                </a:solidFill>
                <a:latin typeface="Aptos"/>
                <a:ea typeface="Aptos"/>
                <a:cs typeface="Aptos"/>
              </a:rPr>
              <a:t>DIV5 + 7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A0DA8-2F86-4BBE-98E4-217A7D33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DIV5 + 7 + 9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41B7C-29F3-474D-8700-D3986A1C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DE"/>
          </a:solidFill>
          <a:ln xmlns:a="http://schemas.openxmlformats.org/drawingml/2006/main" w="0">
            <a:solidFill>
              <a:srgbClr val="E9E5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CDC4F-6005-49CB-AF22-F5B48F57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BURSTS /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3662D-8CE2-494D-A544-6AEAE5AD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32.39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AE297-C031-4529-9F96-FA9FAF96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66D1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F66D1"/>
                </a:solidFill>
                <a:latin typeface="Georgia"/>
                <a:ea typeface="Georgia"/>
                <a:cs typeface="Georgia"/>
              </a:rPr>
              <a:t>27.17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DF985-D4AA-4C90-8687-1D616CBE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23.58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F739A-8F01-4B60-9F5B-FBC97AA6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FIRING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EA6C3-C536-48DD-92B6-C446509B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46.36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C4711-64E4-4359-8A5F-850677BC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66D1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F66D1"/>
                </a:solidFill>
                <a:latin typeface="Georgia"/>
                <a:ea typeface="Georgia"/>
                <a:cs typeface="Georgia"/>
              </a:rPr>
              <a:t>39.29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AABAB2-ABAB-40AD-9047-23B8ADD5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765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34.41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5BD1B-E871-4F38-BB43-C7C961D7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8140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DE"/>
          </a:solidFill>
          <a:ln xmlns:a="http://schemas.openxmlformats.org/drawingml/2006/main" w="0">
            <a:solidFill>
              <a:srgbClr val="E9E5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CDD361-11CF-4DE7-84C7-F3FD5878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ACTIVE ELECTRODES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E23C3-BBA5-407F-B996-47765882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27.66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72089D-260F-434F-9B5F-BEF0A43F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66D1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F66D1"/>
                </a:solidFill>
                <a:latin typeface="Georgia"/>
                <a:ea typeface="Georgia"/>
                <a:cs typeface="Georgia"/>
              </a:rPr>
              <a:t>20.42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C647B0-7E22-4FB2-9BC5-8B76DCC8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766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16.67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55275A-01EE-4F4E-9C02-F0C553D2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NETWORK SPIKES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58FEE6-1FD0-4A9A-8682-D2A80BE6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7672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45.78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A2ACF3-0D19-4F88-9E7E-B4722AA1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7672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66D1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F66D1"/>
                </a:solidFill>
                <a:latin typeface="Georgia"/>
                <a:ea typeface="Georgia"/>
                <a:cs typeface="Georgia"/>
              </a:rPr>
              <a:t>40.72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76B0E8-5905-41CA-9C02-7383F934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7672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37.28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3BA804-C1AF-402B-84F2-54DF6ECA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DE"/>
          </a:solidFill>
          <a:ln xmlns:a="http://schemas.openxmlformats.org/drawingml/2006/main" w="0">
            <a:solidFill>
              <a:srgbClr val="E9E5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918D02-5DA3-4B35-AFCE-900E81A4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COORDINATED ACTIVITY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EABCA1-B9DC-413F-A33B-3299E68C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76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58.83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196B4B-C858-45B2-9793-6FFE2B73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66D1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F66D1"/>
                </a:solidFill>
                <a:latin typeface="Georgia"/>
                <a:ea typeface="Georgia"/>
                <a:cs typeface="Georgia"/>
              </a:rPr>
              <a:t>48.61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91459F-4197-428B-B815-9A0F3548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76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48.74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74FD6C-6BA9-46AE-95A0-688C7EF8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6FFB17-051B-4EF8-B746-7E80E778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333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66D1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F66D1"/>
                </a:solidFill>
                <a:latin typeface="Georgia"/>
                <a:ea typeface="Georgia"/>
                <a:cs typeface="Georgia"/>
              </a:rPr>
              <a:t>5 DAYS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5D179C-F461-444E-8E93-918343C3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829300"/>
            <a:ext cx="2238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earlier per accepted forecast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630BDC-DC2D-4F3C-8207-5C5879F5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743575"/>
            <a:ext cx="1143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5B39D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45B39D"/>
                </a:solidFill>
                <a:latin typeface="Georgia"/>
                <a:ea typeface="Georgia"/>
                <a:cs typeface="Georgia"/>
              </a:rPr>
              <a:t>41.7%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5E8B5F-E75C-4756-A6D9-DC70ABBE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293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of stated 12-day duration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86CB80-08F5-4B21-A0CC-B48725CB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293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E35D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35D45"/>
                </a:solidFill>
                <a:latin typeface="Aptos"/>
                <a:ea typeface="Aptos"/>
                <a:cs typeface="Aptos"/>
              </a:rPr>
              <a:t>No monetary claim</a:t>
            </a:r>
          </a:p>
        </p:txBody>
      </p:sp>
    </p:spTree>
    <p:extLst>
      <p:ext uri="{BB962C8B-B14F-4D97-AF65-F5344CB8AC3E}">
        <p14:creationId xmlns:p14="http://schemas.microsoft.com/office/powerpoint/2010/main" val="705169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2BC7924-CEE7-41C3-817F-1C9121BD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F4F0E8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489B788-43F0-4C0C-B746-82BB9BB4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D1"/>
          </a:solidFill>
          <a:ln xmlns:a="http://schemas.openxmlformats.org/drawingml/2006/main" w="0">
            <a:solidFill>
              <a:srgbClr val="1F66D1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C01CFCE-1CFB-4A1E-8F81-B2D3A935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 N T E R P R E T A B I L I T Y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9307295-8663-49F7-94DD-F8A7D233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E16FB433-F241-4C9C-A38E-A62C5132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results/feature_importance.csv • exact tree contributions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B690E3C-A135-4886-8DC3-070F2AE0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67085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6708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7" name="claim-title">
            <a:extLst xmlns:a="http://schemas.openxmlformats.org/drawingml/2006/main">
              <a:ext uri="{FF2B5EF4-FFF2-40B4-BE49-F238E27FC236}">
                <a16:creationId xmlns:a16="http://schemas.microsoft.com/office/drawing/2014/main" id="{802B7D03-5F18-4BB2-BBA1-1FD3FB26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Physiology leads; chemistry adds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6E3FD-F8F6-4968-8842-DB8CB879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DIV7 PHYSIOLOGY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A50B5-C6AD-4F16-9A64-B42E740B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0D9"/>
          </a:solidFill>
          <a:ln xmlns:a="http://schemas.openxmlformats.org/drawingml/2006/main" w="0">
            <a:solidFill>
              <a:srgbClr val="E3E0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7330A-B840-48CF-9168-7152EDFA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322707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D1"/>
          </a:solidFill>
          <a:ln xmlns:a="http://schemas.openxmlformats.org/drawingml/2006/main" w="0">
            <a:solidFill>
              <a:srgbClr val="1F66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C2FD6-EC69-4FAE-99BF-B85AD345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383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66D1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F66D1"/>
                </a:solidFill>
                <a:latin typeface="Georgia"/>
                <a:ea typeface="Georgia"/>
                <a:cs typeface="Georgia"/>
              </a:rPr>
              <a:t>56.9–77.3%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28FA90-5A6E-441C-A86D-7A1DF617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CHEMISTRY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971C2-C76D-42BD-95DA-E1FB38DF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0D9"/>
          </a:solidFill>
          <a:ln xmlns:a="http://schemas.openxmlformats.org/drawingml/2006/main" w="0">
            <a:solidFill>
              <a:srgbClr val="E3E0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0273A-C21D-4E13-81C5-50245123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134112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39D"/>
          </a:solidFill>
          <a:ln xmlns:a="http://schemas.openxmlformats.org/drawingml/2006/main" w="0">
            <a:solidFill>
              <a:srgbClr val="45B39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2B8E5-B911-410D-9164-27F4A761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099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5B39D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45B39D"/>
                </a:solidFill>
                <a:latin typeface="Georgia"/>
                <a:ea typeface="Georgia"/>
                <a:cs typeface="Georgia"/>
              </a:rPr>
              <a:t>11.2–31.8%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2853B-6F9F-4E31-8F5B-95688757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DIV5 PHYSIOLOGY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E1EA4-3731-43A0-9AD8-E1E5107E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386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0D9"/>
          </a:solidFill>
          <a:ln xmlns:a="http://schemas.openxmlformats.org/drawingml/2006/main" w="0">
            <a:solidFill>
              <a:srgbClr val="E3E0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470867-4728-4DD8-85DE-28250881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38600"/>
            <a:ext cx="754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solidFill>
              <a:srgbClr val="E3A7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8B5FE4-9D7C-40E8-98CE-A25DFA98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814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3A72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E3A72F"/>
                </a:solidFill>
                <a:latin typeface="Georgia"/>
                <a:ea typeface="Georgia"/>
                <a:cs typeface="Georgia"/>
              </a:rPr>
              <a:t>3.7–17.6%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F8E13B-CDA2-4B93-A41C-41203881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666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Predictive contribution ≠ causal mechanism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1C6962-95FA-42B1-87AF-52146676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47850"/>
            <a:ext cx="26479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0">
            <a:solidFill>
              <a:srgbClr val="101A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576A29-7B56-4FAE-A75D-E2A29B71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95500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35D4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35D45"/>
                </a:solidFill>
                <a:latin typeface="Aptos"/>
                <a:ea typeface="Aptos"/>
                <a:cs typeface="Aptos"/>
              </a:rPr>
              <a:t>SHOW FAILURES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43CEC0-3FB4-4B97-B6A9-1D5F6297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71750"/>
            <a:ext cx="2152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Tributyltin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chloride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9A07E-D1B5-4B88-808B-EC154EAE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52800"/>
            <a:ext cx="1943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63"/>
          </a:solidFill>
          <a:ln xmlns:a="http://schemas.openxmlformats.org/drawingml/2006/main" w="0">
            <a:solidFill>
              <a:srgbClr val="3C4C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464E45-6033-491E-A8FB-7F50A4CE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57600"/>
            <a:ext cx="2152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Mercuric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chloride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340386-0868-44BC-B0B5-35BDCE5B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053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5C1D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5C1D0"/>
                </a:solidFill>
                <a:latin typeface="Aptos"/>
                <a:ea typeface="Aptos"/>
                <a:cs typeface="Aptos"/>
              </a:rPr>
              <a:t>Case selection disclosed after lock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F80A4C-8DA8-4FA8-ADBA-BBBE6E81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M1 significantly beats B3 on 2 / 5 endpoints—not all five.</a:t>
            </a:r>
          </a:p>
        </p:txBody>
      </p:sp>
    </p:spTree>
    <p:extLst>
      <p:ext uri="{BB962C8B-B14F-4D97-AF65-F5344CB8AC3E}">
        <p14:creationId xmlns:p14="http://schemas.microsoft.com/office/powerpoint/2010/main" val="5235181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1B15EC1-8B03-41B8-B3A6-44448993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B"/>
          </a:solidFill>
          <a:ln xmlns:a="http://schemas.openxmlformats.org/drawingml/2006/main" w="0">
            <a:solidFill>
              <a:srgbClr val="101A2B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9E8F40F-6D7C-46B5-B33D-88870ADB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39D"/>
          </a:solidFill>
          <a:ln xmlns:a="http://schemas.openxmlformats.org/drawingml/2006/main" w="0">
            <a:solidFill>
              <a:srgbClr val="45B39D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15E0538-5C71-479C-B14C-F141710D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9B7CA"/>
                </a:solidFill>
                <a:latin typeface="Aptos"/>
                <a:ea typeface="Aptos"/>
                <a:cs typeface="Aptos"/>
              </a:rPr>
              <a:t>P R O S P E C T I V E   P A T H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F833391-40E4-4A08-BA3B-60660A07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057"/>
          </a:solidFill>
          <a:ln xmlns:a="http://schemas.openxmlformats.org/drawingml/2006/main" w="0">
            <a:solidFill>
              <a:srgbClr val="304057"/>
            </a:solidFill>
            <a:prstDash val="solid"/>
          </a:ln>
        </p:spPr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07A45E6F-F5AF-450E-839E-433BA325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A9B7CA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A9B7CA"/>
                </a:solidFill>
                <a:latin typeface="Aptos"/>
                <a:ea typeface="Aptos"/>
                <a:cs typeface="Aptos"/>
              </a:rPr>
              <a:t>Frozen model • prospective validation required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4A082E1-A84F-416D-BFF6-61E1E8D7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7CA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9B7CA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7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051D2E2-F26A-4496-8116-832EFD91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next experiment is human neural OoC validation.</a:t>
            </a:r>
          </a:p>
        </p:txBody>
      </p:sp>
      <p:sp>
        <p:nvSpPr>
          <p:cNvPr id="8" name="validation-step-1">
            <a:extLst xmlns:a="http://schemas.openxmlformats.org/drawingml/2006/main">
              <a:ext uri="{FF2B5EF4-FFF2-40B4-BE49-F238E27FC236}">
                <a16:creationId xmlns:a16="http://schemas.microsoft.com/office/drawing/2014/main" id="{99287013-1F1D-410D-AEBC-838FB818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28850"/>
            <a:ext cx="2095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750"/>
          </a:solidFill>
          <a:ln xmlns:a="http://schemas.openxmlformats.org/drawingml/2006/main" w="0">
            <a:solidFill>
              <a:srgbClr val="27375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4ED69-54A4-4E1D-B79A-0789015A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B39D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45B39D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6173A-DB89-43B6-8147-3E394CE3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FREEZE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CC70D-DB7D-4894-839C-E0541F59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D0D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5D0DD"/>
                </a:solidFill>
                <a:latin typeface="Aptos"/>
                <a:ea typeface="Aptos"/>
                <a:cs typeface="Aptos"/>
              </a:rPr>
              <a:t>Endpoints, criteria, and external test set</a:t>
            </a:r>
          </a:p>
        </p:txBody>
      </p:sp>
      <p:sp>
        <p:nvSpPr>
          <p:cNvPr id="12" name="validation-connector-1">
            <a:extLst xmlns:a="http://schemas.openxmlformats.org/drawingml/2006/main">
              <a:ext uri="{FF2B5EF4-FFF2-40B4-BE49-F238E27FC236}">
                <a16:creationId xmlns:a16="http://schemas.microsoft.com/office/drawing/2014/main" id="{A531142A-224E-4D31-B807-F13F1924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24200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validation-connector-1-head">
            <a:extLst xmlns:a="http://schemas.openxmlformats.org/drawingml/2006/main">
              <a:ext uri="{FF2B5EF4-FFF2-40B4-BE49-F238E27FC236}">
                <a16:creationId xmlns:a16="http://schemas.microsoft.com/office/drawing/2014/main" id="{B72D1D01-BA1F-4032-BDB9-DA369751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76575"/>
            <a:ext cx="95250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validation-step-2">
            <a:extLst xmlns:a="http://schemas.openxmlformats.org/drawingml/2006/main">
              <a:ext uri="{FF2B5EF4-FFF2-40B4-BE49-F238E27FC236}">
                <a16:creationId xmlns:a16="http://schemas.microsoft.com/office/drawing/2014/main" id="{E704BEF1-8AF7-411E-918E-013BA83B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28850"/>
            <a:ext cx="2095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750"/>
          </a:solidFill>
          <a:ln xmlns:a="http://schemas.openxmlformats.org/drawingml/2006/main" w="0">
            <a:solidFill>
              <a:srgbClr val="2737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9EA2F-D318-4690-A9E9-A416585D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1935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B39D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45B39D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24FBC-B112-4C19-823C-3BDD5CFE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33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D93EB-D093-4213-B1BE-B4919293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956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D0D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5D0DD"/>
                </a:solidFill>
                <a:latin typeface="Aptos"/>
                <a:ea typeface="Aptos"/>
                <a:cs typeface="Aptos"/>
              </a:rPr>
              <a:t>Devices, labs, batches, and unseen chemicals</a:t>
            </a:r>
          </a:p>
        </p:txBody>
      </p:sp>
      <p:sp>
        <p:nvSpPr>
          <p:cNvPr id="18" name="validation-connector-2">
            <a:extLst xmlns:a="http://schemas.openxmlformats.org/drawingml/2006/main">
              <a:ext uri="{FF2B5EF4-FFF2-40B4-BE49-F238E27FC236}">
                <a16:creationId xmlns:a16="http://schemas.microsoft.com/office/drawing/2014/main" id="{7530D0C5-E1C9-489B-9CF3-F5CB3AAE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24200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validation-connector-2-head">
            <a:extLst xmlns:a="http://schemas.openxmlformats.org/drawingml/2006/main">
              <a:ext uri="{FF2B5EF4-FFF2-40B4-BE49-F238E27FC236}">
                <a16:creationId xmlns:a16="http://schemas.microsoft.com/office/drawing/2014/main" id="{EA5330E5-8B72-4ADF-BAF2-D57D733C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76575"/>
            <a:ext cx="95250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validation-step-3">
            <a:extLst xmlns:a="http://schemas.openxmlformats.org/drawingml/2006/main">
              <a:ext uri="{FF2B5EF4-FFF2-40B4-BE49-F238E27FC236}">
                <a16:creationId xmlns:a16="http://schemas.microsoft.com/office/drawing/2014/main" id="{E4F09F64-5F55-4F81-A7CF-B3FE3C56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28850"/>
            <a:ext cx="2095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750"/>
          </a:solidFill>
          <a:ln xmlns:a="http://schemas.openxmlformats.org/drawingml/2006/main" w="0">
            <a:solidFill>
              <a:srgbClr val="27375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B3957F-7739-4B6C-B0CB-0E50D739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1935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B39D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45B39D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08AF7-D48F-4D5C-84C0-21917374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33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A8927F-BFB1-4055-A2E2-09E82929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956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5D0D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5D0DD"/>
                </a:solidFill>
                <a:latin typeface="Aptos"/>
                <a:ea typeface="Aptos"/>
                <a:cs typeface="Aptos"/>
              </a:rPr>
              <a:t>Error, coverage, abstention, and drift</a:t>
            </a:r>
          </a:p>
        </p:txBody>
      </p:sp>
      <p:sp>
        <p:nvSpPr>
          <p:cNvPr id="24" name="validation-connector-3">
            <a:extLst xmlns:a="http://schemas.openxmlformats.org/drawingml/2006/main">
              <a:ext uri="{FF2B5EF4-FFF2-40B4-BE49-F238E27FC236}">
                <a16:creationId xmlns:a16="http://schemas.microsoft.com/office/drawing/2014/main" id="{F7E9376A-4881-4445-8224-573151A3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4200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validation-connector-3-head">
            <a:extLst xmlns:a="http://schemas.openxmlformats.org/drawingml/2006/main">
              <a:ext uri="{FF2B5EF4-FFF2-40B4-BE49-F238E27FC236}">
                <a16:creationId xmlns:a16="http://schemas.microsoft.com/office/drawing/2014/main" id="{DDDB559D-DE4C-4213-8EDA-E8716BF6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76575"/>
            <a:ext cx="95250" cy="1238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validation-step-4">
            <a:extLst xmlns:a="http://schemas.openxmlformats.org/drawingml/2006/main">
              <a:ext uri="{FF2B5EF4-FFF2-40B4-BE49-F238E27FC236}">
                <a16:creationId xmlns:a16="http://schemas.microsoft.com/office/drawing/2014/main" id="{2121308B-FF64-42FA-B441-8D386E20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28850"/>
            <a:ext cx="20955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B39D"/>
          </a:solidFill>
          <a:ln xmlns:a="http://schemas.openxmlformats.org/drawingml/2006/main" w="0">
            <a:solidFill>
              <a:srgbClr val="45B39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893EAB-D756-42EB-ADF2-689E4609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1935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A2B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01A2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5D1882-3D5B-4D41-A7BF-6CD34735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33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A2B"/>
                </a:solidFill>
                <a:latin typeface="Aptos"/>
                <a:ea typeface="Aptos"/>
                <a:cs typeface="Aptos"/>
              </a:rPr>
              <a:t>GOVERN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C1D261-F326-4FD2-99FF-E0AFFAC6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9565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A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01A2B"/>
                </a:solidFill>
                <a:latin typeface="Aptos"/>
                <a:ea typeface="Aptos"/>
                <a:cs typeface="Aptos"/>
              </a:rPr>
              <a:t>Human review, override, and monitoring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7107C9-528E-47DB-AB05-7DC2DD1D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1000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20"/>
          </a:solidFill>
          <a:ln xmlns:a="http://schemas.openxmlformats.org/drawingml/2006/main" w="9525">
            <a:solidFill>
              <a:srgbClr val="31425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D54C04-8EA5-447E-B3E6-2D9FA742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45B39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45B39D"/>
                </a:solidFill>
                <a:latin typeface="Aptos"/>
                <a:ea typeface="Aptos"/>
                <a:cs typeface="Aptos"/>
              </a:rPr>
              <a:t>REPRODUCE IN MINUTES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4A9AB7-7675-4EDB-BEFA-BCCEB43D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make test   •   make reproduce-lite   •   make demo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2211AB-1A8B-4D9D-957A-99CBE340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45B39D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45B39D"/>
                </a:solidFill>
                <a:latin typeface="Georgia"/>
                <a:ea typeface="Georgia"/>
                <a:cs typeface="Georgia"/>
              </a:rPr>
              <a:t>44 / 44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8DE58C-BEDD-4385-BC77-4B7C2018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14350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B5C1D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5C1D0"/>
                </a:solidFill>
                <a:latin typeface="Aptos"/>
                <a:ea typeface="Aptos"/>
                <a:cs typeface="Aptos"/>
              </a:rPr>
              <a:t>tests passing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90092F-7519-4321-83BB-902337CD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1019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Forecast when evidence is strong. Continue when it is not.</a:t>
            </a:r>
          </a:p>
        </p:txBody>
      </p:sp>
    </p:spTree>
    <p:extLst>
      <p:ext uri="{BB962C8B-B14F-4D97-AF65-F5344CB8AC3E}">
        <p14:creationId xmlns:p14="http://schemas.microsoft.com/office/powerpoint/2010/main" val="238798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2026-09-28T21:07:13.2790000Z</dcterms:created>
  <dcterms:modified xsi:type="dcterms:W3CDTF">2026-09-28T21:07:13.2790000Z</dcterms:modified>
</coreProperties>
</file>