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31b7586f04620" /><Relationship Type="http://schemas.openxmlformats.org/officeDocument/2006/relationships/extended-properties" Target="/docProps/app.xml" Id="R2252d43301ab4a2a" /><Relationship Type="http://schemas.openxmlformats.org/officeDocument/2006/relationships/officeDocument" Target="/ppt/presentation.xml" Id="R1aecf435547f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b9a476ae842df"/>
  </p:sldMasterIdLst>
  <p:notesMasterIdLst>
    <p:notesMasterId xmlns:r="http://schemas.openxmlformats.org/officeDocument/2006/relationships" r:id="R0ba08ae9d0454eef"/>
  </p:notesMasterIdLst>
  <p:sldIdLst>
    <p:sldId xmlns:r="http://schemas.openxmlformats.org/officeDocument/2006/relationships" id="256" r:id="R15f928f944c146ca"/>
    <p:sldId xmlns:r="http://schemas.openxmlformats.org/officeDocument/2006/relationships" id="257" r:id="R0bcd013a92354f8e"/>
    <p:sldId xmlns:r="http://schemas.openxmlformats.org/officeDocument/2006/relationships" id="258" r:id="R11bf308f52d54565"/>
    <p:sldId xmlns:r="http://schemas.openxmlformats.org/officeDocument/2006/relationships" id="259" r:id="R34c1459ce993439a"/>
    <p:sldId xmlns:r="http://schemas.openxmlformats.org/officeDocument/2006/relationships" id="260" r:id="Re7f05981b47347ff"/>
    <p:sldId xmlns:r="http://schemas.openxmlformats.org/officeDocument/2006/relationships" id="261" r:id="Rb26cb486bcac4961"/>
    <p:sldId xmlns:r="http://schemas.openxmlformats.org/officeDocument/2006/relationships" id="262" r:id="Rb040eda4bcd24661"/>
    <p:sldId xmlns:r="http://schemas.openxmlformats.org/officeDocument/2006/relationships" id="263" r:id="R7b2bf371f9bb4742"/>
    <p:sldId xmlns:r="http://schemas.openxmlformats.org/officeDocument/2006/relationships" id="264" r:id="R306d42d819a843b2"/>
    <p:sldId xmlns:r="http://schemas.openxmlformats.org/officeDocument/2006/relationships" id="265" r:id="R4c414e53300b482b"/>
    <p:sldId xmlns:r="http://schemas.openxmlformats.org/officeDocument/2006/relationships" id="266" r:id="R21901140f72e4c2e"/>
    <p:sldId xmlns:r="http://schemas.openxmlformats.org/officeDocument/2006/relationships" id="267" r:id="R084606bd72944f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b9a476ae842df" /><Relationship Type="http://schemas.openxmlformats.org/officeDocument/2006/relationships/theme" Target="/ppt/theme/theme1.xml" Id="R77b4266e14474185" /><Relationship Type="http://schemas.openxmlformats.org/officeDocument/2006/relationships/notesMaster" Target="/ppt/notesMasters/notesMaster1.xml" Id="R0ba08ae9d0454eef" /><Relationship Type="http://schemas.openxmlformats.org/officeDocument/2006/relationships/presProps" Target="/ppt/presProps.xml" Id="R1b65f9dd13d7418f" /><Relationship Type="http://schemas.openxmlformats.org/officeDocument/2006/relationships/viewProps" Target="/ppt/viewProps.xml" Id="R79c449b01dc34389" /><Relationship Type="http://schemas.openxmlformats.org/officeDocument/2006/relationships/tableStyles" Target="/ppt/tableStyles.xml" Id="R8b9a69741e9f4a0d" /><Relationship Type="http://schemas.openxmlformats.org/officeDocument/2006/relationships/slide" Target="/ppt/slides/slide1.xml" Id="R15f928f944c146ca" /><Relationship Type="http://schemas.openxmlformats.org/officeDocument/2006/relationships/slide" Target="/ppt/slides/slide2.xml" Id="R0bcd013a92354f8e" /><Relationship Type="http://schemas.openxmlformats.org/officeDocument/2006/relationships/slide" Target="/ppt/slides/slide3.xml" Id="R11bf308f52d54565" /><Relationship Type="http://schemas.openxmlformats.org/officeDocument/2006/relationships/slide" Target="/ppt/slides/slide4.xml" Id="R34c1459ce993439a" /><Relationship Type="http://schemas.openxmlformats.org/officeDocument/2006/relationships/slide" Target="/ppt/slides/slide5.xml" Id="Re7f05981b47347ff" /><Relationship Type="http://schemas.openxmlformats.org/officeDocument/2006/relationships/slide" Target="/ppt/slides/slide6.xml" Id="Rb26cb486bcac4961" /><Relationship Type="http://schemas.openxmlformats.org/officeDocument/2006/relationships/slide" Target="/ppt/slides/slide7.xml" Id="Rb040eda4bcd24661" /><Relationship Type="http://schemas.openxmlformats.org/officeDocument/2006/relationships/slide" Target="/ppt/slides/slide8.xml" Id="R7b2bf371f9bb4742" /><Relationship Type="http://schemas.openxmlformats.org/officeDocument/2006/relationships/slide" Target="/ppt/slides/slide9.xml" Id="R306d42d819a843b2" /><Relationship Type="http://schemas.openxmlformats.org/officeDocument/2006/relationships/slide" Target="/ppt/slides/slide10.xml" Id="R4c414e53300b482b" /><Relationship Type="http://schemas.openxmlformats.org/officeDocument/2006/relationships/slide" Target="/ppt/slides/slide11.xml" Id="R21901140f72e4c2e" /><Relationship Type="http://schemas.openxmlformats.org/officeDocument/2006/relationships/slide" Target="/ppt/slides/slide12.xml" Id="R084606bd7294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08d483746c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48b37975b4989" /><Relationship Type="http://schemas.openxmlformats.org/officeDocument/2006/relationships/notesMaster" Target="/ppt/notesMasters/notesMaster1.xml" Id="R4b27e7f6f1c84f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f99536adb64e02" /><Relationship Type="http://schemas.openxmlformats.org/officeDocument/2006/relationships/notesMaster" Target="/ppt/notesMasters/notesMaster1.xml" Id="Rf634f8191f7c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9bfc67f16d438b" /><Relationship Type="http://schemas.openxmlformats.org/officeDocument/2006/relationships/notesMaster" Target="/ppt/notesMasters/notesMaster1.xml" Id="R49e082cb41ac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8314c5e2da4e73" /><Relationship Type="http://schemas.openxmlformats.org/officeDocument/2006/relationships/notesMaster" Target="/ppt/notesMasters/notesMaster1.xml" Id="Ra30062d0ea294e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5dbc9047447b7" /><Relationship Type="http://schemas.openxmlformats.org/officeDocument/2006/relationships/notesMaster" Target="/ppt/notesMasters/notesMaster1.xml" Id="Rc9f48214aa7e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9c48e86684693" /><Relationship Type="http://schemas.openxmlformats.org/officeDocument/2006/relationships/notesMaster" Target="/ppt/notesMasters/notesMaster1.xml" Id="Rface781e21dc46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1d701df4a04995" /><Relationship Type="http://schemas.openxmlformats.org/officeDocument/2006/relationships/notesMaster" Target="/ppt/notesMasters/notesMaster1.xml" Id="Rf1d6a914837440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54a69db3a4332" /><Relationship Type="http://schemas.openxmlformats.org/officeDocument/2006/relationships/notesMaster" Target="/ppt/notesMasters/notesMaster1.xml" Id="R65b915f17cdd46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6f0024f6e46f4" /><Relationship Type="http://schemas.openxmlformats.org/officeDocument/2006/relationships/notesMaster" Target="/ppt/notesMasters/notesMaster1.xml" Id="R30c78918c71748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9e4e41716e4d7e" /><Relationship Type="http://schemas.openxmlformats.org/officeDocument/2006/relationships/notesMaster" Target="/ppt/notesMasters/notesMaster1.xml" Id="Rba8fa82c721047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91cf404afc4695" /><Relationship Type="http://schemas.openxmlformats.org/officeDocument/2006/relationships/notesMaster" Target="/ppt/notesMasters/notesMaster1.xml" Id="R708bba7a745f41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c078227877405e" /><Relationship Type="http://schemas.openxmlformats.org/officeDocument/2006/relationships/notesMaster" Target="/ppt/notesMasters/notesMaster1.xml" Id="R81d6923753b7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07668121240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33a11ae8d946d7" /><Relationship Type="http://schemas.openxmlformats.org/officeDocument/2006/relationships/slideLayout" Target="/ppt/slideLayouts/slideLayout2.xml" Id="R98ed3d0f7315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d3d0f7315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8d967e7bde4edf" /><Relationship Type="http://schemas.openxmlformats.org/officeDocument/2006/relationships/notesSlide" Target="/ppt/notesSlides/notesSlide1.xml" Id="R4cafa5a02e0a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ab64030254026" /><Relationship Type="http://schemas.openxmlformats.org/officeDocument/2006/relationships/notesSlide" Target="/ppt/notesSlides/notesSlide2.xml" Id="R6c45d9f926bd48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df700867741c7" /><Relationship Type="http://schemas.openxmlformats.org/officeDocument/2006/relationships/notesSlide" Target="/ppt/notesSlides/notesSlide3.xml" Id="R2f5c56e798744f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3a9547a8345f6" /><Relationship Type="http://schemas.openxmlformats.org/officeDocument/2006/relationships/notesSlide" Target="/ppt/notesSlides/notesSlide4.xml" Id="R9d5bc5c60a6b4c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95592a5ac4da3" /><Relationship Type="http://schemas.openxmlformats.org/officeDocument/2006/relationships/notesSlide" Target="/ppt/notesSlides/notesSlide5.xml" Id="Rae703143aa6b4e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bef79a49c84b21" /><Relationship Type="http://schemas.openxmlformats.org/officeDocument/2006/relationships/notesSlide" Target="/ppt/notesSlides/notesSlide6.xml" Id="Rcea6447362d2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60c501f8144d7" /><Relationship Type="http://schemas.openxmlformats.org/officeDocument/2006/relationships/notesSlide" Target="/ppt/notesSlides/notesSlide7.xml" Id="R96e8be9a50f948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a0039bd8c4e8f" /><Relationship Type="http://schemas.openxmlformats.org/officeDocument/2006/relationships/notesSlide" Target="/ppt/notesSlides/notesSlide8.xml" Id="R74ab8594344c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2aa05f396c481f" /><Relationship Type="http://schemas.openxmlformats.org/officeDocument/2006/relationships/notesSlide" Target="/ppt/notesSlides/notesSlide9.xml" Id="R449491e62bc34d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6dbf25ad2475b" /><Relationship Type="http://schemas.openxmlformats.org/officeDocument/2006/relationships/notesSlide" Target="/ppt/notesSlides/notesSlide10.xml" Id="Rb67f63c36fb848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951bb509b4b15" /><Relationship Type="http://schemas.openxmlformats.org/officeDocument/2006/relationships/notesSlide" Target="/ppt/notesSlides/notesSlide11.xml" Id="R5abfb982d8eb48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8746fb14648c4" /><Relationship Type="http://schemas.openxmlformats.org/officeDocument/2006/relationships/notesSlide" Target="/ppt/notesSlides/notesSlide12.xml" Id="Rb11a30c80a144c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FCCBF4C-7CE7-4EE2-A263-0059FD0F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19D687-6528-4D09-868F-F304CFA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DBADE9-CC1C-46DE-B684-1F07105E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RELIABILITY-AWARE NEURAL FORECASTING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578886-1DB6-4F26-82DA-D009C1B9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4DE36-A00B-4956-9EF2-DAD7F51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04D94-7DA5-455E-AC29-31B093C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77568-6312-4214-A7C0-F263A32F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MEACompass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1B6D3-3D02-4752-949E-C25851E1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Reliability-Aware Early Prediction of Neural Network Development</a:t>
            </a:r>
          </a:p>
          <a:p xmlns:a="http://schemas.openxmlformats.org/drawingml/2006/main">
            <a:pPr algn="l">
              <a:defRPr sz="1875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from Microelectrode-Array Assays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C1E95-9510-47B8-B4C0-B42345B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B7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CB7A5"/>
                </a:solidFill>
                <a:latin typeface="Aptos"/>
                <a:ea typeface="Aptos"/>
                <a:cs typeface="Aptos"/>
              </a:rPr>
              <a:t>Toward Functional Digital Twins for Neural Organ-on-Chip Screening</a:t>
            </a:r>
          </a:p>
        </p:txBody>
      </p:sp>
      <p:sp>
        <p:nvSpPr>
          <p:cNvPr id="10" name="connector">
            <a:extLst xmlns:a="http://schemas.openxmlformats.org/drawingml/2006/main">
              <a:ext uri="{FF2B5EF4-FFF2-40B4-BE49-F238E27FC236}">
                <a16:creationId xmlns:a16="http://schemas.microsoft.com/office/drawing/2014/main" id="{807F95F3-C61F-43A4-BF47-FCFBF65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809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arrowhead">
            <a:extLst xmlns:a="http://schemas.openxmlformats.org/drawingml/2006/main">
              <a:ext uri="{FF2B5EF4-FFF2-40B4-BE49-F238E27FC236}">
                <a16:creationId xmlns:a16="http://schemas.microsoft.com/office/drawing/2014/main" id="{AFD7E17B-9B97-47F0-A80E-BF261696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48150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imeline-0">
            <a:extLst xmlns:a="http://schemas.openxmlformats.org/drawingml/2006/main">
              <a:ext uri="{FF2B5EF4-FFF2-40B4-BE49-F238E27FC236}">
                <a16:creationId xmlns:a16="http://schemas.microsoft.com/office/drawing/2014/main" id="{F652E7D0-8A29-4125-86E7-D392035B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5376A-2140-4B77-BF91-F82C44F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DIV5</a:t>
            </a:r>
          </a:p>
        </p:txBody>
      </p:sp>
      <p:sp>
        <p:nvSpPr>
          <p:cNvPr id="14" name="timeline-1">
            <a:extLst xmlns:a="http://schemas.openxmlformats.org/drawingml/2006/main">
              <a:ext uri="{FF2B5EF4-FFF2-40B4-BE49-F238E27FC236}">
                <a16:creationId xmlns:a16="http://schemas.microsoft.com/office/drawing/2014/main" id="{208FFF5E-A8D9-4371-A9A5-8CDD009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673EC-3C8F-411D-8F46-37F55B95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DIV7</a:t>
            </a:r>
          </a:p>
        </p:txBody>
      </p:sp>
      <p:sp>
        <p:nvSpPr>
          <p:cNvPr id="16" name="timeline-2">
            <a:extLst xmlns:a="http://schemas.openxmlformats.org/drawingml/2006/main">
              <a:ext uri="{FF2B5EF4-FFF2-40B4-BE49-F238E27FC236}">
                <a16:creationId xmlns:a16="http://schemas.microsoft.com/office/drawing/2014/main" id="{B2C8AEAC-E892-4A8C-A80A-6F9A4E98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D34DB-14A5-4DC5-8542-23779704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814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FORECAST / WAIT</a:t>
            </a:r>
          </a:p>
        </p:txBody>
      </p:sp>
      <p:sp>
        <p:nvSpPr>
          <p:cNvPr id="18" name="timeline-3">
            <a:extLst xmlns:a="http://schemas.openxmlformats.org/drawingml/2006/main">
              <a:ext uri="{FF2B5EF4-FFF2-40B4-BE49-F238E27FC236}">
                <a16:creationId xmlns:a16="http://schemas.microsoft.com/office/drawing/2014/main" id="{688DF77F-EBE8-403A-8F39-7E45592D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795A4-2799-49E0-9B3B-5FDCBFD9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DIV12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7D595-FFE4-458B-AC78-8DB77C53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BF7"/>
                </a:solidFill>
                <a:latin typeface="Aptos"/>
                <a:ea typeface="Aptos"/>
                <a:cs typeface="Aptos"/>
              </a:rPr>
              <a:t>Five days earlier for accepted cases • explicit permission to continue uncertain assays</a:t>
            </a:r>
          </a:p>
        </p:txBody>
      </p:sp>
    </p:spTree>
    <p:extLst>
      <p:ext uri="{BB962C8B-B14F-4D97-AF65-F5344CB8AC3E}">
        <p14:creationId xmlns:p14="http://schemas.microsoft.com/office/powerpoint/2010/main" val="1738337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2AEC03-BA0E-4FCB-963D-4ECEE84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431FAB-A239-4DA8-BFC8-6D2C73D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D7B51D-D8D3-4059-90E8-9F65335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SCIENTIFIC BOUNDARY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CF38A53-659D-49E7-9980-FABF9AA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C1E2-D963-4549-93E9-E2247C15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32DE5-9964-4E14-9567-3AA1588E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B3346-30AF-4E79-975F-714D3A3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A useful forecast begins with an honest boundary.</a:t>
            </a:r>
          </a:p>
        </p:txBody>
      </p:sp>
      <p:sp>
        <p:nvSpPr>
          <p:cNvPr id="8" name="node-WHAT THIS IS">
            <a:extLst xmlns:a="http://schemas.openxmlformats.org/drawingml/2006/main">
              <a:ext uri="{FF2B5EF4-FFF2-40B4-BE49-F238E27FC236}">
                <a16:creationId xmlns:a16="http://schemas.microsoft.com/office/drawing/2014/main" id="{B1D53229-3DFA-4415-B64D-8612AB78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4CB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203AF-D189-4AAF-8107-00F4A5C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WHAT THIS 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73582-8021-4E66-8024-8CFBF4D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Retrospective rat cortical neural microelectrode-array research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Chemical-disjoint prediction of five DIV12 functional endpoints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Calibrated research decision support</a:t>
            </a:r>
          </a:p>
        </p:txBody>
      </p:sp>
      <p:sp>
        <p:nvSpPr>
          <p:cNvPr id="11" name="node-WHAT THIS IS NOT">
            <a:extLst xmlns:a="http://schemas.openxmlformats.org/drawingml/2006/main">
              <a:ext uri="{FF2B5EF4-FFF2-40B4-BE49-F238E27FC236}">
                <a16:creationId xmlns:a16="http://schemas.microsoft.com/office/drawing/2014/main" id="{C8734851-F0FC-453C-938E-3A053D30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E46F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B6417-8C84-4356-AE08-275191A2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WHAT THIS IS 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4C0A3-D6C1-405C-84E7-DAEC42F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765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Not organ-on-chip training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Not human or external-device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Not an autonomous assay-termination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8CA85-3E0E-4146-AEF8-BC807153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Human neural OoC transfer is a hypothesis until a frozen prospective study validates it.</a:t>
            </a:r>
          </a:p>
        </p:txBody>
      </p:sp>
    </p:spTree>
    <p:extLst>
      <p:ext uri="{BB962C8B-B14F-4D97-AF65-F5344CB8AC3E}">
        <p14:creationId xmlns:p14="http://schemas.microsoft.com/office/powerpoint/2010/main" val="20552041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EC73120-CF19-4BFA-8782-64BCBE6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FAC61D-6EE2-4F86-85A4-7E55BCA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9D2F0B-C8FC-4117-9CCB-F9EE3009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4312AF-F425-4828-B576-8090BFA3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ACAF1-1654-4A15-9198-E8C2E6B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D8F69-F5B5-4637-94C2-D2F0397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B1A6A-EA31-4C88-815B-1842568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The split follows the chemical—not the convenient row.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94841-084A-4BE9-A61D-288C8E8D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Every dose, alias, replicate, and well for one chemical stays together.</a:t>
            </a:r>
          </a:p>
        </p:txBody>
      </p:sp>
      <p:sp>
        <p:nvSpPr>
          <p:cNvPr id="9" name="node-136 CHEMICALS">
            <a:extLst xmlns:a="http://schemas.openxmlformats.org/drawingml/2006/main">
              <a:ext uri="{FF2B5EF4-FFF2-40B4-BE49-F238E27FC236}">
                <a16:creationId xmlns:a16="http://schemas.microsoft.com/office/drawing/2014/main" id="{0A522703-F1BB-47C8-8CF1-F37DF28E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4CB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35BA4-8AE3-41D9-B5A7-054F20C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289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136 CHEMICALS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074D7-4518-4D0F-985F-1CCFD80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71800"/>
            <a:ext cx="2228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Canonical CAS groups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~4,200 complete trajectories</a:t>
            </a:r>
          </a:p>
        </p:txBody>
      </p:sp>
      <p:sp>
        <p:nvSpPr>
          <p:cNvPr id="12" name="connector">
            <a:extLst xmlns:a="http://schemas.openxmlformats.org/drawingml/2006/main">
              <a:ext uri="{FF2B5EF4-FFF2-40B4-BE49-F238E27FC236}">
                <a16:creationId xmlns:a16="http://schemas.microsoft.com/office/drawing/2014/main" id="{CA341A27-94CD-4286-88DE-0B7852D0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arrowhead">
            <a:extLst xmlns:a="http://schemas.openxmlformats.org/drawingml/2006/main">
              <a:ext uri="{FF2B5EF4-FFF2-40B4-BE49-F238E27FC236}">
                <a16:creationId xmlns:a16="http://schemas.microsoft.com/office/drawing/2014/main" id="{EC4588F3-28A3-4319-A6DB-9E960C7B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28975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node-3 × 5 OUTER FOLDS">
            <a:extLst xmlns:a="http://schemas.openxmlformats.org/drawingml/2006/main">
              <a:ext uri="{FF2B5EF4-FFF2-40B4-BE49-F238E27FC236}">
                <a16:creationId xmlns:a16="http://schemas.microsoft.com/office/drawing/2014/main" id="{3C548D73-268C-4E6D-83AF-78D01A6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19708-322F-4704-B584-36A527F1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3 × 5 OUTER FOLDS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60998-BFEF-48A3-B99B-02B38D6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Held-out chemicals only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Inner-only model and BT+ selection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No random well split</a:t>
            </a:r>
          </a:p>
        </p:txBody>
      </p:sp>
      <p:sp>
        <p:nvSpPr>
          <p:cNvPr id="17" name="connector">
            <a:extLst xmlns:a="http://schemas.openxmlformats.org/drawingml/2006/main">
              <a:ext uri="{FF2B5EF4-FFF2-40B4-BE49-F238E27FC236}">
                <a16:creationId xmlns:a16="http://schemas.microsoft.com/office/drawing/2014/main" id="{81EC6F93-C013-4F2F-823B-4F7CEC46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arrowhead">
            <a:extLst xmlns:a="http://schemas.openxmlformats.org/drawingml/2006/main">
              <a:ext uri="{FF2B5EF4-FFF2-40B4-BE49-F238E27FC236}">
                <a16:creationId xmlns:a16="http://schemas.microsoft.com/office/drawing/2014/main" id="{431A7471-13E6-4C49-AE62-F5FAE8B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28975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node-CHEMICAL BOOTSTRAP">
            <a:extLst xmlns:a="http://schemas.openxmlformats.org/drawingml/2006/main">
              <a:ext uri="{FF2B5EF4-FFF2-40B4-BE49-F238E27FC236}">
                <a16:creationId xmlns:a16="http://schemas.microsoft.com/office/drawing/2014/main" id="{F97453F9-1529-476E-B6E0-279BD4F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714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D8A1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F8B67-8544-4861-B0F7-DF67F5B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28900"/>
            <a:ext cx="2371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CHEMICAL BOOTSTRAP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0DF31-8ED8-4653-9F2B-9221B428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71800"/>
            <a:ext cx="2371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Paired uncertainty at the true generalization unit</a:t>
            </a:r>
          </a:p>
        </p:txBody>
      </p:sp>
    </p:spTree>
    <p:extLst>
      <p:ext uri="{BB962C8B-B14F-4D97-AF65-F5344CB8AC3E}">
        <p14:creationId xmlns:p14="http://schemas.microsoft.com/office/powerpoint/2010/main" val="14824592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E0D15BB-DDE5-40B3-B497-C28146B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290F90-0839-4806-84E3-6F71329E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ED336E-7501-499E-B2F8-841E3BE2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LOCKED PRIMARY RESULT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98D3019-EB9F-4EF5-8E8A-82F335A2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33B8-E64A-4490-B693-22E2C38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C9E34-A2C6-47AA-840B-C01DBBA1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5B7F1-B833-4B25-9CE0-163D35A1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Frozen M1 improves all five endpoints against the fair comparator.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957AB-FC10-4520-A404-8B94A76F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MAE gain versus inner-selected BT+; every paired chemical-bootstrap interval excludes zero.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DE07D-CBB6-48F4-BA63-1DE692A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Firing</a:t>
            </a:r>
          </a:p>
        </p:txBody>
      </p:sp>
      <p:sp>
        <p:nvSpPr>
          <p:cNvPr id="10" name="track-Firing">
            <a:extLst xmlns:a="http://schemas.openxmlformats.org/drawingml/2006/main">
              <a:ext uri="{FF2B5EF4-FFF2-40B4-BE49-F238E27FC236}">
                <a16:creationId xmlns:a16="http://schemas.microsoft.com/office/drawing/2014/main" id="{64CD2DEC-69C1-4079-97CB-9F51597D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2887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ar-Firing">
            <a:extLst xmlns:a="http://schemas.openxmlformats.org/drawingml/2006/main">
              <a:ext uri="{FF2B5EF4-FFF2-40B4-BE49-F238E27FC236}">
                <a16:creationId xmlns:a16="http://schemas.microsoft.com/office/drawing/2014/main" id="{9D1F61ED-C4C0-49F2-8BD4-569E6129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28875"/>
            <a:ext cx="17607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2043E-9192-4F2E-89E4-0CBBBA7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14.2%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B8309-94ED-40EC-934F-1F0612D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990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Bursts</a:t>
            </a:r>
          </a:p>
        </p:txBody>
      </p:sp>
      <p:sp>
        <p:nvSpPr>
          <p:cNvPr id="14" name="track-Bursts">
            <a:extLst xmlns:a="http://schemas.openxmlformats.org/drawingml/2006/main">
              <a:ext uri="{FF2B5EF4-FFF2-40B4-BE49-F238E27FC236}">
                <a16:creationId xmlns:a16="http://schemas.microsoft.com/office/drawing/2014/main" id="{8AA9BC46-C504-42FF-B0C2-C8729A7D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5752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ar-Bursts">
            <a:extLst xmlns:a="http://schemas.openxmlformats.org/drawingml/2006/main">
              <a:ext uri="{FF2B5EF4-FFF2-40B4-BE49-F238E27FC236}">
                <a16:creationId xmlns:a16="http://schemas.microsoft.com/office/drawing/2014/main" id="{59B6F678-7F95-483D-94C0-40308E57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57525"/>
            <a:ext cx="21079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EA87E-2862-403C-B443-A136301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17.0%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2C5AA-7877-4ACA-B5D2-BD0A416E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18" name="track-Active electrodes">
            <a:extLst xmlns:a="http://schemas.openxmlformats.org/drawingml/2006/main">
              <a:ext uri="{FF2B5EF4-FFF2-40B4-BE49-F238E27FC236}">
                <a16:creationId xmlns:a16="http://schemas.microsoft.com/office/drawing/2014/main" id="{6D07BB77-FDE3-4828-837C-12B49B8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8617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bar-Active electrodes">
            <a:extLst xmlns:a="http://schemas.openxmlformats.org/drawingml/2006/main">
              <a:ext uri="{FF2B5EF4-FFF2-40B4-BE49-F238E27FC236}">
                <a16:creationId xmlns:a16="http://schemas.microsoft.com/office/drawing/2014/main" id="{1CD399FF-2855-48F3-821E-B630B63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86175"/>
            <a:ext cx="483577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6646E-8CF3-4A5F-B442-C9966E48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39.0%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F8854-40FE-416B-9DA3-810E3BA1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2" name="track-Network spikes">
            <a:extLst xmlns:a="http://schemas.openxmlformats.org/drawingml/2006/main">
              <a:ext uri="{FF2B5EF4-FFF2-40B4-BE49-F238E27FC236}">
                <a16:creationId xmlns:a16="http://schemas.microsoft.com/office/drawing/2014/main" id="{B61BCBF1-B49C-4642-8F33-54654B90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1482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bar-Network spikes">
            <a:extLst xmlns:a="http://schemas.openxmlformats.org/drawingml/2006/main">
              <a:ext uri="{FF2B5EF4-FFF2-40B4-BE49-F238E27FC236}">
                <a16:creationId xmlns:a16="http://schemas.microsoft.com/office/drawing/2014/main" id="{02EECCAA-6A40-4D31-A161-D82FF6E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14825"/>
            <a:ext cx="19343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CB6EE-00AD-4DD4-ABED-948F351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672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15.6%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A45C8-9F62-4033-BA78-15B7EAA8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9585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26" name="track-Coordinated activity">
            <a:extLst xmlns:a="http://schemas.openxmlformats.org/drawingml/2006/main">
              <a:ext uri="{FF2B5EF4-FFF2-40B4-BE49-F238E27FC236}">
                <a16:creationId xmlns:a16="http://schemas.microsoft.com/office/drawing/2014/main" id="{30E66FB5-215F-4728-B94C-3B02989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4347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bar-Coordinated activity">
            <a:extLst xmlns:a="http://schemas.openxmlformats.org/drawingml/2006/main">
              <a:ext uri="{FF2B5EF4-FFF2-40B4-BE49-F238E27FC236}">
                <a16:creationId xmlns:a16="http://schemas.microsoft.com/office/drawing/2014/main" id="{20BCABEF-51F9-4359-88E8-7AEB960B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43475"/>
            <a:ext cx="281467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97CB2-F123-44AB-BF19-3DCD39B9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958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22.7%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19B76-68CF-48B0-867F-A88F4794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12.3–42.9% gain versus stricter BT++ • significant on all five endpoints</a:t>
            </a:r>
          </a:p>
        </p:txBody>
      </p:sp>
    </p:spTree>
    <p:extLst>
      <p:ext uri="{BB962C8B-B14F-4D97-AF65-F5344CB8AC3E}">
        <p14:creationId xmlns:p14="http://schemas.microsoft.com/office/powerpoint/2010/main" val="986041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4C54614-10F5-4612-8542-6E26EEA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15B674-7BFD-470B-9D69-2104535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E23EF9-C9C7-48DF-94A9-FA88F67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INTEGRITY BEFORE MOMENTUM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5927DF-FB4B-4351-A370-2A38C6E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5C0BA-F80F-411B-A253-11DF2505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E1E7F-0D60-4CD6-B19E-C80D856E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E8AAE-567B-444A-ACD2-CB863B46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The negative control stopped us—then the audit earned conditional continuation.</a:t>
            </a:r>
          </a:p>
        </p:txBody>
      </p:sp>
      <p:sp>
        <p:nvSpPr>
          <p:cNvPr id="8" name="node-REGISTERED STOP">
            <a:extLst xmlns:a="http://schemas.openxmlformats.org/drawingml/2006/main">
              <a:ext uri="{FF2B5EF4-FFF2-40B4-BE49-F238E27FC236}">
                <a16:creationId xmlns:a16="http://schemas.microsoft.com/office/drawing/2014/main" id="{5B7F8361-380B-47CE-9D21-05788C92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E46F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CE402-7B34-41B6-BE1B-DEF7BE5C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REGISTERED 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465ED-AF95-41DE-9FAE-8C1DFC4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03835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Chemical-block permutation showed a small burst gain.</a:t>
            </a:r>
          </a:p>
        </p:txBody>
      </p:sp>
      <p:sp>
        <p:nvSpPr>
          <p:cNvPr id="11" name="connector">
            <a:extLst xmlns:a="http://schemas.openxmlformats.org/drawingml/2006/main">
              <a:ext uri="{FF2B5EF4-FFF2-40B4-BE49-F238E27FC236}">
                <a16:creationId xmlns:a16="http://schemas.microsoft.com/office/drawing/2014/main" id="{155571C9-9BFD-4661-913C-F90BDA0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rrowhead">
            <a:extLst xmlns:a="http://schemas.openxmlformats.org/drawingml/2006/main">
              <a:ext uri="{FF2B5EF4-FFF2-40B4-BE49-F238E27FC236}">
                <a16:creationId xmlns:a16="http://schemas.microsoft.com/office/drawing/2014/main" id="{528A5CEC-C6B5-48D9-B8E0-056DFFC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71850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4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node-BOUNDED AUDIT">
            <a:extLst xmlns:a="http://schemas.openxmlformats.org/drawingml/2006/main">
              <a:ext uri="{FF2B5EF4-FFF2-40B4-BE49-F238E27FC236}">
                <a16:creationId xmlns:a16="http://schemas.microsoft.com/office/drawing/2014/main" id="{A9418040-EBCB-4EB4-870B-55A7E65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3429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D8A1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3F827-F45D-476C-974C-4013B0B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BOUNDED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2ABCF-31BD-419D-A7A0-967E67D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30861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No future-derived feature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Clean full-target shuffle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No alignment defect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Real M1 beat all 20 block-null runs on every endpoint</a:t>
            </a:r>
          </a:p>
        </p:txBody>
      </p:sp>
      <p:sp>
        <p:nvSpPr>
          <p:cNvPr id="16" name="connector">
            <a:extLst xmlns:a="http://schemas.openxmlformats.org/drawingml/2006/main">
              <a:ext uri="{FF2B5EF4-FFF2-40B4-BE49-F238E27FC236}">
                <a16:creationId xmlns:a16="http://schemas.microsoft.com/office/drawing/2014/main" id="{E27A8F84-9D40-481D-972E-E5D78E9E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arrowhead">
            <a:extLst xmlns:a="http://schemas.openxmlformats.org/drawingml/2006/main">
              <a:ext uri="{FF2B5EF4-FFF2-40B4-BE49-F238E27FC236}">
                <a16:creationId xmlns:a16="http://schemas.microsoft.com/office/drawing/2014/main" id="{06A4EE98-1AB2-4684-8CA9-C4579080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71850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node-CONDITIONAL PASS">
            <a:extLst xmlns:a="http://schemas.openxmlformats.org/drawingml/2006/main">
              <a:ext uri="{FF2B5EF4-FFF2-40B4-BE49-F238E27FC236}">
                <a16:creationId xmlns:a16="http://schemas.microsoft.com/office/drawing/2014/main" id="{ED482EBE-BA78-40E3-9A31-7A92B64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4CB7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3F55C-75D4-4D45-A4DC-888F88E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CONDITIONAL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2CCBB-3D04-44F8-9041-9B42AE4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71800"/>
            <a:ext cx="25146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Failure remains visible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BT++ added as safeguard</a:t>
            </a:r>
          </a:p>
          <a:p xmlns:a="http://schemas.openxmlformats.org/drawingml/2006/main">
            <a:pPr algn="l">
              <a:defRPr sz="9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Locked claims unchanged</a:t>
            </a:r>
          </a:p>
        </p:txBody>
      </p:sp>
    </p:spTree>
    <p:extLst>
      <p:ext uri="{BB962C8B-B14F-4D97-AF65-F5344CB8AC3E}">
        <p14:creationId xmlns:p14="http://schemas.microsoft.com/office/powerpoint/2010/main" val="4201038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3215026-3641-4EB0-B063-39608DF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E38465-8110-44E3-A252-97AD73B7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BDDD0C-A1E3-4AF0-9B1B-49F495F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CALIBRATED UNCERTAINTY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417A11-CF8D-4DC6-80D4-748F20E8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B15A4-8CF9-4F6D-9D1D-823FAC84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9BE60-5D39-45BF-833E-5AD77AD7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A94FE-A015-42AA-A7B9-74ED8BC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Nominal 90% intervals cover 91.0–92.4% in held-out chemicals.</a:t>
            </a:r>
          </a:p>
        </p:txBody>
      </p:sp>
      <p:sp>
        <p:nvSpPr>
          <p:cNvPr id="8" name="coverage-track">
            <a:extLst xmlns:a="http://schemas.openxmlformats.org/drawingml/2006/main">
              <a:ext uri="{FF2B5EF4-FFF2-40B4-BE49-F238E27FC236}">
                <a16:creationId xmlns:a16="http://schemas.microsoft.com/office/drawing/2014/main" id="{C085AE83-4D06-4CC5-BC95-9A3BADE6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nominal-90">
            <a:extLst xmlns:a="http://schemas.openxmlformats.org/drawingml/2006/main">
              <a:ext uri="{FF2B5EF4-FFF2-40B4-BE49-F238E27FC236}">
                <a16:creationId xmlns:a16="http://schemas.microsoft.com/office/drawing/2014/main" id="{D01E71BF-08BD-4992-9FEE-D95D5A19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empirical-range">
            <a:extLst xmlns:a="http://schemas.openxmlformats.org/drawingml/2006/main">
              <a:ext uri="{FF2B5EF4-FFF2-40B4-BE49-F238E27FC236}">
                <a16:creationId xmlns:a16="http://schemas.microsoft.com/office/drawing/2014/main" id="{54CC4419-1F02-485E-A3BD-258551E4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565" y="2924175"/>
            <a:ext cx="14135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17FFD-F804-4A50-B1BF-AEF6AF3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4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6F61"/>
                </a:solidFill>
                <a:latin typeface="Aptos"/>
                <a:ea typeface="Aptos"/>
                <a:cs typeface="Aptos"/>
              </a:rPr>
              <a:t>90% nominal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783F0-BBF0-43C1-9B9E-145AED32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91.0–92.4% empirical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45BF4-EA56-4357-9177-BF40B9BD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Nested group CV+ • calibration uses training chemicals only • intervals travel with each forecast</a:t>
            </a:r>
          </a:p>
        </p:txBody>
      </p:sp>
    </p:spTree>
    <p:extLst>
      <p:ext uri="{BB962C8B-B14F-4D97-AF65-F5344CB8AC3E}">
        <p14:creationId xmlns:p14="http://schemas.microsoft.com/office/powerpoint/2010/main" val="6772524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121F348-56C1-4CC7-AB94-169300DF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CABF49-05E1-4052-A2DF-1315A15A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39939AD-EAEB-46D4-8CF0-5B5D32A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SELECTIVE PREDICTION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0CAA0E-58E3-4CD7-A4BA-9D71796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8A0B4-D748-473B-AB5E-255303A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FA352-F52A-4AFA-9353-528879F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E8B61-1555-49EF-A957-26A72B8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Abstention clears the risk threshold on three endpoints—not five.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92AB2-EB1F-4177-B68D-EED2E9A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Accepted-case MAE reduction at 70% retained coverage; registered threshold = 15%.</a:t>
            </a:r>
          </a:p>
        </p:txBody>
      </p:sp>
      <p:sp>
        <p:nvSpPr>
          <p:cNvPr id="9" name="threshold-15">
            <a:extLst xmlns:a="http://schemas.openxmlformats.org/drawingml/2006/main">
              <a:ext uri="{FF2B5EF4-FFF2-40B4-BE49-F238E27FC236}">
                <a16:creationId xmlns:a16="http://schemas.microsoft.com/office/drawing/2014/main" id="{3F72C233-10C6-4D64-9C35-5DE01EE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285FE-8F15-4088-8AAB-7BC28640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030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Firing</a:t>
            </a:r>
          </a:p>
        </p:txBody>
      </p:sp>
      <p:sp>
        <p:nvSpPr>
          <p:cNvPr id="11" name="track-Firing">
            <a:extLst xmlns:a="http://schemas.openxmlformats.org/drawingml/2006/main">
              <a:ext uri="{FF2B5EF4-FFF2-40B4-BE49-F238E27FC236}">
                <a16:creationId xmlns:a16="http://schemas.microsoft.com/office/drawing/2014/main" id="{E84098B3-8A5E-4254-A9DB-6C6BC1C1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4792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ar-Firing">
            <a:extLst xmlns:a="http://schemas.openxmlformats.org/drawingml/2006/main">
              <a:ext uri="{FF2B5EF4-FFF2-40B4-BE49-F238E27FC236}">
                <a16:creationId xmlns:a16="http://schemas.microsoft.com/office/drawing/2014/main" id="{3E959B96-D802-4370-A5DC-90725D95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47925"/>
            <a:ext cx="210914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82B4A-49CE-4A63-A050-9787BD3E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18.9%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2D8E0-20D9-4266-AD60-D461729C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23088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37246-ECAA-44D5-B75A-55D96B1A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Bursts</a:t>
            </a:r>
          </a:p>
        </p:txBody>
      </p:sp>
      <p:sp>
        <p:nvSpPr>
          <p:cNvPr id="16" name="track-Bursts">
            <a:extLst xmlns:a="http://schemas.openxmlformats.org/drawingml/2006/main">
              <a:ext uri="{FF2B5EF4-FFF2-40B4-BE49-F238E27FC236}">
                <a16:creationId xmlns:a16="http://schemas.microsoft.com/office/drawing/2014/main" id="{1A1D87A6-3483-44A3-B318-EEC103A5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ar-Bursts">
            <a:extLst xmlns:a="http://schemas.openxmlformats.org/drawingml/2006/main">
              <a:ext uri="{FF2B5EF4-FFF2-40B4-BE49-F238E27FC236}">
                <a16:creationId xmlns:a16="http://schemas.microsoft.com/office/drawing/2014/main" id="{9D34048D-60A7-4FC4-B73C-748DAFF4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51333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45773-0CE0-4CC1-A7FB-03E74571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4.6%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38E56-79C8-430C-AD60-A135140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67075"/>
            <a:ext cx="23088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D411D-A4A6-4EA8-87F2-39FF6957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21" name="track-Active electrodes">
            <a:extLst xmlns:a="http://schemas.openxmlformats.org/drawingml/2006/main">
              <a:ext uri="{FF2B5EF4-FFF2-40B4-BE49-F238E27FC236}">
                <a16:creationId xmlns:a16="http://schemas.microsoft.com/office/drawing/2014/main" id="{0AEA220D-F9B6-49B0-86B5-ADB09D97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8617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ar-Active electrodes">
            <a:extLst xmlns:a="http://schemas.openxmlformats.org/drawingml/2006/main">
              <a:ext uri="{FF2B5EF4-FFF2-40B4-BE49-F238E27FC236}">
                <a16:creationId xmlns:a16="http://schemas.microsoft.com/office/drawing/2014/main" id="{5662D873-535E-4AB8-977A-A76C74E9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86175"/>
            <a:ext cx="200870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16987-B120-485F-8BF6-F6EFCD7B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18.0%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F3D62-ABC4-46F0-9F02-C9ACC2A3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86200"/>
            <a:ext cx="23088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D7E20-5117-4CD5-9C5A-4A144A7D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57675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6" name="track-Network spikes">
            <a:extLst xmlns:a="http://schemas.openxmlformats.org/drawingml/2006/main">
              <a:ext uri="{FF2B5EF4-FFF2-40B4-BE49-F238E27FC236}">
                <a16:creationId xmlns:a16="http://schemas.microsoft.com/office/drawing/2014/main" id="{34FCB53B-A702-4993-8B47-EAB8622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bar-Network spikes">
            <a:extLst xmlns:a="http://schemas.openxmlformats.org/drawingml/2006/main">
              <a:ext uri="{FF2B5EF4-FFF2-40B4-BE49-F238E27FC236}">
                <a16:creationId xmlns:a16="http://schemas.microsoft.com/office/drawing/2014/main" id="{CB84E4CB-0138-4CF5-8F61-A38B31BE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59145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B8E2C-FED0-424E-915B-6646FCAF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57675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5.3%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0E5934-86E4-4F6F-8D6B-2C30A877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05325"/>
            <a:ext cx="23088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4C484-52B3-40C4-BCDF-5C5F0BC2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76800"/>
            <a:ext cx="25974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31" name="track-Coordinated activity">
            <a:extLst xmlns:a="http://schemas.openxmlformats.org/drawingml/2006/main">
              <a:ext uri="{FF2B5EF4-FFF2-40B4-BE49-F238E27FC236}">
                <a16:creationId xmlns:a16="http://schemas.microsoft.com/office/drawing/2014/main" id="{DEAC3360-28C0-4E45-B7E8-FB186047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24425"/>
            <a:ext cx="55797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bar-Coordinated activity">
            <a:extLst xmlns:a="http://schemas.openxmlformats.org/drawingml/2006/main">
              <a:ext uri="{FF2B5EF4-FFF2-40B4-BE49-F238E27FC236}">
                <a16:creationId xmlns:a16="http://schemas.microsoft.com/office/drawing/2014/main" id="{BCB286E2-6A06-4469-8F1A-3F553EA1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24425"/>
            <a:ext cx="31692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8D4C2-9338-4946-8D60-5E0C3AC6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76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28.4%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290C81-1868-4043-A113-32C78770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24450"/>
            <a:ext cx="23088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3A816-9287-4832-A8FA-90CF76C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Uncertain cases continue to DIV12; this policy does not terminate assays.</a:t>
            </a:r>
          </a:p>
        </p:txBody>
      </p:sp>
    </p:spTree>
    <p:extLst>
      <p:ext uri="{BB962C8B-B14F-4D97-AF65-F5344CB8AC3E}">
        <p14:creationId xmlns:p14="http://schemas.microsoft.com/office/powerpoint/2010/main" val="1738532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18A3A7E-DF29-4A6C-BCF2-55AC2EB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152D45-AAFB-4DB5-B8FE-33B283FF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F925FC-3C9E-4AF5-89E6-35963FC9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TIME CAUSALITY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262D0F-3064-4ED5-9C17-880A176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D0FD8-96AA-41E5-8F9D-4A25CACE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E61A5-F0D2-4445-B5C9-D3C332DC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C24C8-B1C6-4C62-9735-891A054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DIV7 is the useful decision point; DIV9 remains post-lock context.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AE4515D2-A58C-4858-BF67-ACB6CC3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700A7-C674-4FD2-9043-F1D8750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DIV5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A7A83-4444-41CB-AB12-AFEC752F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weaker</a:t>
            </a:r>
          </a:p>
        </p:txBody>
      </p:sp>
      <p:sp>
        <p:nvSpPr>
          <p:cNvPr id="11" name="stage-1">
            <a:extLst xmlns:a="http://schemas.openxmlformats.org/drawingml/2006/main">
              <a:ext uri="{FF2B5EF4-FFF2-40B4-BE49-F238E27FC236}">
                <a16:creationId xmlns:a16="http://schemas.microsoft.com/office/drawing/2014/main" id="{C7FD4611-2D4A-43CE-A8A9-D56DC98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05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15CF0-9276-45F4-BFF8-9783B49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DIV5 + DIV7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890B3-CDF3-44C7-A74A-A587AA5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481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primary locked model</a:t>
            </a:r>
          </a:p>
        </p:txBody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8774AFAB-B84F-4BF7-9FD8-ECE816BE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43250"/>
            <a:ext cx="2238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134CB-E1C2-4195-AB51-53D5A920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DIV5 + 7 + 9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1E200-E08E-4C32-8DAA-2267F187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86175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post-lock ablation</a:t>
            </a:r>
          </a:p>
        </p:txBody>
      </p:sp>
      <p:sp>
        <p:nvSpPr>
          <p:cNvPr id="17" name="stage-3">
            <a:extLst xmlns:a="http://schemas.openxmlformats.org/drawingml/2006/main">
              <a:ext uri="{FF2B5EF4-FFF2-40B4-BE49-F238E27FC236}">
                <a16:creationId xmlns:a16="http://schemas.microsoft.com/office/drawing/2014/main" id="{DE9086C8-AE4F-4240-BADA-BF3A5E98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EA430-C062-4E0B-ADF3-798E6A0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DIV12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2D1CB-175B-41E7-8A8B-583C8F9A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241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observed endpoint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62CA3-C7C8-4EC9-BE2B-787ED5EB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DIV7 forecasts are available five days before the DIV12 endpoint for accepted cases.</a:t>
            </a:r>
          </a:p>
        </p:txBody>
      </p:sp>
    </p:spTree>
    <p:extLst>
      <p:ext uri="{BB962C8B-B14F-4D97-AF65-F5344CB8AC3E}">
        <p14:creationId xmlns:p14="http://schemas.microsoft.com/office/powerpoint/2010/main" val="2110247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39F90D-1ADB-4F80-A0D9-82A8913B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382F1D-F7A2-4685-9C2D-CCC9822C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3E07FC-8794-4A9A-82E5-5A9434F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MODEL EVIDENCE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088203-A269-42BA-9A29-BD8E7C8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1FFAD-2A08-4B40-B66F-9043B70E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85EC3-9ACD-4841-9D44-CFCBCAC1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B217-7096-4233-98EA-9EFCF3F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Early physiology leads; chemistry contributes complementary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ED831-5B6F-4E4C-92A5-51F4B13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DIV7 physiology</a:t>
            </a:r>
          </a:p>
        </p:txBody>
      </p:sp>
      <p:sp>
        <p:nvSpPr>
          <p:cNvPr id="9" name="physiology">
            <a:extLst xmlns:a="http://schemas.openxmlformats.org/drawingml/2006/main">
              <a:ext uri="{FF2B5EF4-FFF2-40B4-BE49-F238E27FC236}">
                <a16:creationId xmlns:a16="http://schemas.microsoft.com/office/drawing/2014/main" id="{5DBA7CC6-C8ED-4641-A6C6-B8F6AF4A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3D9FB-AD02-4DAB-972F-B3AF49A9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98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6CD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D6CDF"/>
                </a:solidFill>
                <a:latin typeface="Georgia"/>
                <a:ea typeface="Georgia"/>
                <a:cs typeface="Georgia"/>
              </a:rPr>
              <a:t>56.9–77.3%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A3DB5-E2CA-46BF-B768-515BFF3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Chemistry</a:t>
            </a:r>
          </a:p>
        </p:txBody>
      </p:sp>
      <p:sp>
        <p:nvSpPr>
          <p:cNvPr id="12" name="chemistry">
            <a:extLst xmlns:a="http://schemas.openxmlformats.org/drawingml/2006/main">
              <a:ext uri="{FF2B5EF4-FFF2-40B4-BE49-F238E27FC236}">
                <a16:creationId xmlns:a16="http://schemas.microsoft.com/office/drawing/2014/main" id="{E9D3FEE9-074E-4949-96C3-FA279CE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7AFE2-99C6-4273-BC25-C545C5AA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A1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8A13A"/>
                </a:solidFill>
                <a:latin typeface="Georgia"/>
                <a:ea typeface="Georgia"/>
                <a:cs typeface="Georgia"/>
              </a:rPr>
              <a:t>11.2–31.8%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A2D23-7740-426F-A50B-6C6D0D4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Contribution values are predictive, not causal. Chemistry improves some endpoints, not all.</a:t>
            </a:r>
          </a:p>
        </p:txBody>
      </p:sp>
    </p:spTree>
    <p:extLst>
      <p:ext uri="{BB962C8B-B14F-4D97-AF65-F5344CB8AC3E}">
        <p14:creationId xmlns:p14="http://schemas.microsoft.com/office/powerpoint/2010/main" val="18702497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E29177-62D1-4A74-AAA1-240558D6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ACFBDF-0888-4EE6-9E85-914FDEC6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9CF9C8-1D84-43F2-A42E-8266C590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WORKING INTERFACE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BF7C9F3-6285-4FF3-9C1C-1AF90B2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C62B4-7161-4267-832F-B5886FC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21DA1-5EE5-4FF4-851F-A2B5429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F8C1A-3374-4568-845F-735C7331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The interface keeps evidence, forecast, and hypothesis visibly separate.</a:t>
            </a:r>
          </a:p>
        </p:txBody>
      </p:sp>
      <p:sp>
        <p:nvSpPr>
          <p:cNvPr id="8" name="app-frame">
            <a:extLst xmlns:a="http://schemas.openxmlformats.org/drawingml/2006/main">
              <a:ext uri="{FF2B5EF4-FFF2-40B4-BE49-F238E27FC236}">
                <a16:creationId xmlns:a16="http://schemas.microsoft.com/office/drawing/2014/main" id="{E74970CD-F4C1-46EB-AE30-1CA533AD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076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AE07E-1B59-448C-8A3D-84EF074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HELD-OUT ASSAY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87AE6-7B1F-4CC6-9C64-4D0CA3DF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Chemical 042  ·  coordinated activity</a:t>
            </a:r>
          </a:p>
        </p:txBody>
      </p:sp>
      <p:sp>
        <p:nvSpPr>
          <p:cNvPr id="11" name="ui-rule-0">
            <a:extLst xmlns:a="http://schemas.openxmlformats.org/drawingml/2006/main">
              <a:ext uri="{FF2B5EF4-FFF2-40B4-BE49-F238E27FC236}">
                <a16:creationId xmlns:a16="http://schemas.microsoft.com/office/drawing/2014/main" id="{3155093F-0DC5-4E4D-9CAE-5F0CF7FB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C67F5-C970-4694-8115-360137D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OBSERVED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97D64-7DBB-4557-A2CE-FA55F6E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DIV5 / DIV7 measurements</a:t>
            </a:r>
          </a:p>
        </p:txBody>
      </p:sp>
      <p:sp>
        <p:nvSpPr>
          <p:cNvPr id="14" name="ui-rule-1">
            <a:extLst xmlns:a="http://schemas.openxmlformats.org/drawingml/2006/main">
              <a:ext uri="{FF2B5EF4-FFF2-40B4-BE49-F238E27FC236}">
                <a16:creationId xmlns:a16="http://schemas.microsoft.com/office/drawing/2014/main" id="{93097A75-9082-4AF8-8100-BFF9A6E2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B158A-653B-439C-BF32-5EB93F5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B7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B7A5"/>
                </a:solidFill>
                <a:latin typeface="Aptos"/>
                <a:ea typeface="Aptos"/>
                <a:cs typeface="Aptos"/>
              </a:rPr>
              <a:t>PREDICTED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52424-51B1-490C-A5AF-2FB204CC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DIV12 forecast + 90% interval</a:t>
            </a:r>
          </a:p>
        </p:txBody>
      </p:sp>
      <p:sp>
        <p:nvSpPr>
          <p:cNvPr id="17" name="ui-rule-2">
            <a:extLst xmlns:a="http://schemas.openxmlformats.org/drawingml/2006/main">
              <a:ext uri="{FF2B5EF4-FFF2-40B4-BE49-F238E27FC236}">
                <a16:creationId xmlns:a16="http://schemas.microsoft.com/office/drawing/2014/main" id="{B1041AC2-9D43-4A73-AEDC-D7890B1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E66B6-5A86-4C0E-A60B-CB6B4648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13A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212A7-53B6-4FBB-8F73-9255248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Human OoC transfer: unvalidated</a:t>
            </a:r>
          </a:p>
        </p:txBody>
      </p:sp>
      <p:sp>
        <p:nvSpPr>
          <p:cNvPr id="20" name="badge">
            <a:extLst xmlns:a="http://schemas.openxmlformats.org/drawingml/2006/main">
              <a:ext uri="{FF2B5EF4-FFF2-40B4-BE49-F238E27FC236}">
                <a16:creationId xmlns:a16="http://schemas.microsoft.com/office/drawing/2014/main" id="{85733D6F-98D4-4D20-9119-6D977DFC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57750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74B48-9C92-47DB-B589-693BF3F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57750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ACCEPTED • calibrated</a:t>
            </a:r>
          </a:p>
        </p:txBody>
      </p:sp>
    </p:spTree>
    <p:extLst>
      <p:ext uri="{BB962C8B-B14F-4D97-AF65-F5344CB8AC3E}">
        <p14:creationId xmlns:p14="http://schemas.microsoft.com/office/powerpoint/2010/main" val="9496890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F01B6CD-F199-4E8F-82ED-E911C01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51F460-7F22-40BD-A92C-8168E83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0C1A16-14DB-4572-A601-F07B871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DEPLOYMENT BOUNDARY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CA7515-4F18-42D6-94A1-3FC5ABD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228B1-E6DA-4192-8838-6131F30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DC538-161F-40DF-9958-472EE96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D8ACB-6159-4C39-886A-E997865F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A deployable human neural OoC system requires a new frozen study.</a:t>
            </a:r>
          </a:p>
        </p:txBody>
      </p:sp>
      <p:sp>
        <p:nvSpPr>
          <p:cNvPr id="8" name="road-0">
            <a:extLst xmlns:a="http://schemas.openxmlformats.org/drawingml/2006/main">
              <a:ext uri="{FF2B5EF4-FFF2-40B4-BE49-F238E27FC236}">
                <a16:creationId xmlns:a16="http://schemas.microsoft.com/office/drawing/2014/main" id="{F77FA058-B195-4FB8-867D-F462EB2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F3CB9-66C8-4198-92D7-0BCD4DE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24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CD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D6CD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BEA8F-6261-43D8-B73D-F61EC3E4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147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Freeze 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379A-7D8D-43F4-8A1D-032DDC8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57625"/>
            <a:ext cx="1752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Endpoints, timing, devices</a:t>
            </a:r>
          </a:p>
        </p:txBody>
      </p:sp>
      <p:sp>
        <p:nvSpPr>
          <p:cNvPr id="12" name="connector">
            <a:extLst xmlns:a="http://schemas.openxmlformats.org/drawingml/2006/main">
              <a:ext uri="{FF2B5EF4-FFF2-40B4-BE49-F238E27FC236}">
                <a16:creationId xmlns:a16="http://schemas.microsoft.com/office/drawing/2014/main" id="{BFCDCE31-7C69-40AE-A7A8-F7F2C26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147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5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arrowhead">
            <a:extLst xmlns:a="http://schemas.openxmlformats.org/drawingml/2006/main">
              <a:ext uri="{FF2B5EF4-FFF2-40B4-BE49-F238E27FC236}">
                <a16:creationId xmlns:a16="http://schemas.microsoft.com/office/drawing/2014/main" id="{4E6ABBA5-9EA9-4F14-9DBF-91BA1BE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57600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75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oad-1">
            <a:extLst xmlns:a="http://schemas.openxmlformats.org/drawingml/2006/main">
              <a:ext uri="{FF2B5EF4-FFF2-40B4-BE49-F238E27FC236}">
                <a16:creationId xmlns:a16="http://schemas.microsoft.com/office/drawing/2014/main" id="{4C412116-DB3A-4530-B7AE-640152C9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94EFF-2C34-4906-B03D-9E5C94A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CD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D6CD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E7C54-6071-4002-9DB7-9E88C299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External labs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B7A73-AE15-4BA2-AE6A-FD85D44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57625"/>
            <a:ext cx="1752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Batches and untouched chemicals</a:t>
            </a:r>
          </a:p>
        </p:txBody>
      </p:sp>
      <p:sp>
        <p:nvSpPr>
          <p:cNvPr id="18" name="connector">
            <a:extLst xmlns:a="http://schemas.openxmlformats.org/drawingml/2006/main">
              <a:ext uri="{FF2B5EF4-FFF2-40B4-BE49-F238E27FC236}">
                <a16:creationId xmlns:a16="http://schemas.microsoft.com/office/drawing/2014/main" id="{8BE0377F-8833-450D-BB98-261CC1FA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5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arrowhead">
            <a:extLst xmlns:a="http://schemas.openxmlformats.org/drawingml/2006/main">
              <a:ext uri="{FF2B5EF4-FFF2-40B4-BE49-F238E27FC236}">
                <a16:creationId xmlns:a16="http://schemas.microsoft.com/office/drawing/2014/main" id="{F66FF05B-8278-44B2-ADE2-4F83F93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657600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75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oad-2">
            <a:extLst xmlns:a="http://schemas.openxmlformats.org/drawingml/2006/main">
              <a:ext uri="{FF2B5EF4-FFF2-40B4-BE49-F238E27FC236}">
                <a16:creationId xmlns:a16="http://schemas.microsoft.com/office/drawing/2014/main" id="{A73C0B72-E933-4ECE-8348-8AFA9953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717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4CB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5F833-C7A6-46B3-993D-797A843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24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CB7A5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4CB7A5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E2C7B-3E94-4898-B093-8FE51226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3147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Recalibrate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C085C-14E9-4675-A34B-CD332F46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57625"/>
            <a:ext cx="1752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Intervals and drift limits</a:t>
            </a:r>
          </a:p>
        </p:txBody>
      </p:sp>
      <p:sp>
        <p:nvSpPr>
          <p:cNvPr id="24" name="connector">
            <a:extLst xmlns:a="http://schemas.openxmlformats.org/drawingml/2006/main">
              <a:ext uri="{FF2B5EF4-FFF2-40B4-BE49-F238E27FC236}">
                <a16:creationId xmlns:a16="http://schemas.microsoft.com/office/drawing/2014/main" id="{6216793C-AA18-4272-B599-9B069202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147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5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arrowhead">
            <a:extLst xmlns:a="http://schemas.openxmlformats.org/drawingml/2006/main">
              <a:ext uri="{FF2B5EF4-FFF2-40B4-BE49-F238E27FC236}">
                <a16:creationId xmlns:a16="http://schemas.microsoft.com/office/drawing/2014/main" id="{AD025BA6-E0CE-49EF-A102-18FB8042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12382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75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oad-3">
            <a:extLst xmlns:a="http://schemas.openxmlformats.org/drawingml/2006/main">
              <a:ext uri="{FF2B5EF4-FFF2-40B4-BE49-F238E27FC236}">
                <a16:creationId xmlns:a16="http://schemas.microsoft.com/office/drawing/2014/main" id="{6F256CC0-A0DF-4BC7-8CBC-56FB979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4CB7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B4CF8-ED23-4DFC-B350-CB53BEB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CB7A5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4CB7A5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22A9B-6CC0-423F-9B28-94FA9433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2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2202A"/>
                </a:solidFill>
                <a:latin typeface="Georgia"/>
                <a:ea typeface="Georgia"/>
                <a:cs typeface="Georgia"/>
              </a:rPr>
              <a:t>Govern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D7C5E-926B-4FB6-936F-9CEF2EFD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57625"/>
            <a:ext cx="1752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57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57B"/>
                </a:solidFill>
                <a:latin typeface="Aptos"/>
                <a:ea typeface="Aptos"/>
                <a:cs typeface="Aptos"/>
              </a:rPr>
              <a:t>Human override and monitoring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B28D7-49BC-46B6-B402-43FE32AD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9382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2A"/>
                </a:solidFill>
                <a:latin typeface="Aptos"/>
                <a:ea typeface="Aptos"/>
                <a:cs typeface="Aptos"/>
              </a:rPr>
              <a:t>Current evidence is retrospective rat cortical MEA—not external laboratory or device transfer.</a:t>
            </a:r>
          </a:p>
        </p:txBody>
      </p:sp>
    </p:spTree>
    <p:extLst>
      <p:ext uri="{BB962C8B-B14F-4D97-AF65-F5344CB8AC3E}">
        <p14:creationId xmlns:p14="http://schemas.microsoft.com/office/powerpoint/2010/main" val="12317174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B150430-254E-4598-8285-20681C1A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39FEC6-A761-4B91-B3A2-D05AA9A3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162021-C933-4282-89D5-32E23FB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REPRODUCE WITHOUT RETRAINING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C4D008-3F41-4317-924B-A61EE47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51AC1-2F36-4F78-A772-CA80D728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62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DE6E4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A90A2-1660-4CAF-A9CF-7D5258E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DE6E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DE6E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461C0-1A42-4748-8BBB-497C39F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The locked evidence rebuilds in minutes from committed predictions.</a:t>
            </a:r>
          </a:p>
        </p:txBody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9CB01E9C-7ADD-4A99-B093-3AAF1AB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048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2D1AE-101D-42EB-998F-FC56F8F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BF7"/>
                </a:solidFill>
                <a:latin typeface="Aptos"/>
                <a:ea typeface="Aptos"/>
                <a:cs typeface="Aptos"/>
              </a:rPr>
              <a:t>$ make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5CBBE-4D9F-46AF-A633-14164221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194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BF7"/>
                </a:solidFill>
                <a:latin typeface="Aptos"/>
                <a:ea typeface="Aptos"/>
                <a:cs typeface="Aptos"/>
              </a:rPr>
              <a:t>$ make fetch-results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1A3A5-933B-4BAA-B8AA-8D0D0C06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BF7"/>
                </a:solidFill>
                <a:latin typeface="Aptos"/>
                <a:ea typeface="Aptos"/>
                <a:cs typeface="Aptos"/>
              </a:rPr>
              <a:t>$ make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30B3C-933C-4FCE-907D-AFAB5D3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B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CB7A5"/>
                </a:solidFill>
                <a:latin typeface="Aptos"/>
                <a:ea typeface="Aptos"/>
                <a:cs typeface="Aptos"/>
              </a:rPr>
              <a:t>$ make reproduce-lite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C2E2C-F0E9-42A4-B125-1A6C2F1D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BF7"/>
                </a:solidFill>
                <a:latin typeface="Aptos"/>
                <a:ea typeface="Aptos"/>
                <a:cs typeface="Aptos"/>
              </a:rPr>
              <a:t>$ make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262CC-81AF-40AC-A485-323BF244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B7A5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CB7A5"/>
                </a:solidFill>
                <a:latin typeface="Georgia"/>
                <a:ea typeface="Georgia"/>
                <a:cs typeface="Georgia"/>
              </a:rPr>
              <a:t>No automatic retraining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B3810-DD96-40A8-B184-DE3CA0F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286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CFBF7"/>
                </a:solidFill>
                <a:latin typeface="Aptos"/>
                <a:ea typeface="Aptos"/>
                <a:cs typeface="Aptos"/>
              </a:rPr>
              <a:t>Saved predictions → tables → figures →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CFBF7"/>
                </a:solidFill>
                <a:latin typeface="Aptos"/>
                <a:ea typeface="Aptos"/>
                <a:cs typeface="Aptos"/>
              </a:rPr>
              <a:t>Manifest hashes verify the evidence bundle.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CFB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CFBF7"/>
                </a:solidFill>
                <a:latin typeface="Aptos"/>
                <a:ea typeface="Aptos"/>
                <a:cs typeface="Aptos"/>
              </a:rPr>
              <a:t>Full training requires an explicit locked-rebuild flag.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893DF-AC6F-4D35-AB0D-6E765004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CFBF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CFBF7"/>
                </a:solidFill>
                <a:latin typeface="Georgia"/>
                <a:ea typeface="Georgia"/>
                <a:cs typeface="Georgia"/>
              </a:rPr>
              <a:t>Forecast when evidence is strong; continue the assay when it is not.</a:t>
            </a:r>
          </a:p>
        </p:txBody>
      </p:sp>
    </p:spTree>
    <p:extLst>
      <p:ext uri="{BB962C8B-B14F-4D97-AF65-F5344CB8AC3E}">
        <p14:creationId xmlns:p14="http://schemas.microsoft.com/office/powerpoint/2010/main" val="2028923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2026-09-29T10:14:06.7310000Z</dcterms:created>
  <dcterms:modified xsi:type="dcterms:W3CDTF">2026-09-29T10:14:06.7310000Z</dcterms:modified>
</coreProperties>
</file>