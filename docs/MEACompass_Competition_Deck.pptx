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ddd9e83bdd4e23" /><Relationship Type="http://schemas.openxmlformats.org/officeDocument/2006/relationships/extended-properties" Target="/docProps/app.xml" Id="Rb94252eb3e2240d1" /><Relationship Type="http://schemas.openxmlformats.org/officeDocument/2006/relationships/officeDocument" Target="/ppt/presentation.xml" Id="Rd22bb05627dc41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44e003961d4257"/>
  </p:sldMasterIdLst>
  <p:notesMasterIdLst>
    <p:notesMasterId xmlns:r="http://schemas.openxmlformats.org/officeDocument/2006/relationships" r:id="Rbafd9005dd394aa3"/>
  </p:notesMasterIdLst>
  <p:sldIdLst>
    <p:sldId xmlns:r="http://schemas.openxmlformats.org/officeDocument/2006/relationships" id="256" r:id="R8c0c34e6c93d4169"/>
    <p:sldId xmlns:r="http://schemas.openxmlformats.org/officeDocument/2006/relationships" id="257" r:id="R61a8e7d5903a4806"/>
    <p:sldId xmlns:r="http://schemas.openxmlformats.org/officeDocument/2006/relationships" id="258" r:id="Rfce4852b9b3d4658"/>
    <p:sldId xmlns:r="http://schemas.openxmlformats.org/officeDocument/2006/relationships" id="259" r:id="Rbfe0d0b83af24af5"/>
    <p:sldId xmlns:r="http://schemas.openxmlformats.org/officeDocument/2006/relationships" id="260" r:id="R46dd66fad02149a2"/>
    <p:sldId xmlns:r="http://schemas.openxmlformats.org/officeDocument/2006/relationships" id="261" r:id="R83ef66e3c71146e9"/>
    <p:sldId xmlns:r="http://schemas.openxmlformats.org/officeDocument/2006/relationships" id="262" r:id="R06b4ee4d70b344a2"/>
    <p:sldId xmlns:r="http://schemas.openxmlformats.org/officeDocument/2006/relationships" id="263" r:id="R24d073bc68a94457"/>
    <p:sldId xmlns:r="http://schemas.openxmlformats.org/officeDocument/2006/relationships" id="264" r:id="R25265ad27a934a88"/>
    <p:sldId xmlns:r="http://schemas.openxmlformats.org/officeDocument/2006/relationships" id="265" r:id="Rba78e0c84e4643c7"/>
    <p:sldId xmlns:r="http://schemas.openxmlformats.org/officeDocument/2006/relationships" id="266" r:id="R3e0060b04c454844"/>
    <p:sldId xmlns:r="http://schemas.openxmlformats.org/officeDocument/2006/relationships" id="267" r:id="R46d1b70d78094fc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4e003961d4257" /><Relationship Type="http://schemas.openxmlformats.org/officeDocument/2006/relationships/theme" Target="/ppt/theme/theme1.xml" Id="R08e16dbb8ec74bb8" /><Relationship Type="http://schemas.openxmlformats.org/officeDocument/2006/relationships/notesMaster" Target="/ppt/notesMasters/notesMaster1.xml" Id="Rbafd9005dd394aa3" /><Relationship Type="http://schemas.openxmlformats.org/officeDocument/2006/relationships/presProps" Target="/ppt/presProps.xml" Id="R8e6917384b7e4401" /><Relationship Type="http://schemas.openxmlformats.org/officeDocument/2006/relationships/viewProps" Target="/ppt/viewProps.xml" Id="Ra1a1f9f61de74e50" /><Relationship Type="http://schemas.openxmlformats.org/officeDocument/2006/relationships/tableStyles" Target="/ppt/tableStyles.xml" Id="R366f1ff3a29a442f" /><Relationship Type="http://schemas.openxmlformats.org/officeDocument/2006/relationships/slide" Target="/ppt/slides/slide1.xml" Id="R8c0c34e6c93d4169" /><Relationship Type="http://schemas.openxmlformats.org/officeDocument/2006/relationships/slide" Target="/ppt/slides/slide2.xml" Id="R61a8e7d5903a4806" /><Relationship Type="http://schemas.openxmlformats.org/officeDocument/2006/relationships/slide" Target="/ppt/slides/slide3.xml" Id="Rfce4852b9b3d4658" /><Relationship Type="http://schemas.openxmlformats.org/officeDocument/2006/relationships/slide" Target="/ppt/slides/slide4.xml" Id="Rbfe0d0b83af24af5" /><Relationship Type="http://schemas.openxmlformats.org/officeDocument/2006/relationships/slide" Target="/ppt/slides/slide5.xml" Id="R46dd66fad02149a2" /><Relationship Type="http://schemas.openxmlformats.org/officeDocument/2006/relationships/slide" Target="/ppt/slides/slide6.xml" Id="R83ef66e3c71146e9" /><Relationship Type="http://schemas.openxmlformats.org/officeDocument/2006/relationships/slide" Target="/ppt/slides/slide7.xml" Id="R06b4ee4d70b344a2" /><Relationship Type="http://schemas.openxmlformats.org/officeDocument/2006/relationships/slide" Target="/ppt/slides/slide8.xml" Id="R24d073bc68a94457" /><Relationship Type="http://schemas.openxmlformats.org/officeDocument/2006/relationships/slide" Target="/ppt/slides/slide9.xml" Id="R25265ad27a934a88" /><Relationship Type="http://schemas.openxmlformats.org/officeDocument/2006/relationships/slide" Target="/ppt/slides/slide10.xml" Id="Rba78e0c84e4643c7" /><Relationship Type="http://schemas.openxmlformats.org/officeDocument/2006/relationships/slide" Target="/ppt/slides/slide11.xml" Id="R3e0060b04c454844" /><Relationship Type="http://schemas.openxmlformats.org/officeDocument/2006/relationships/slide" Target="/ppt/slides/slide12.xml" Id="R46d1b70d78094f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5b8ab3591e54e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b6b16eddfe45f7" /><Relationship Type="http://schemas.openxmlformats.org/officeDocument/2006/relationships/notesMaster" Target="/ppt/notesMasters/notesMaster1.xml" Id="Rbe7b8c8375f3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d69e9613584671" /><Relationship Type="http://schemas.openxmlformats.org/officeDocument/2006/relationships/notesMaster" Target="/ppt/notesMasters/notesMaster1.xml" Id="R42e920b9795649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bcd2cb41f72410b" /><Relationship Type="http://schemas.openxmlformats.org/officeDocument/2006/relationships/notesMaster" Target="/ppt/notesMasters/notesMaster1.xml" Id="R5f7b7e999f2846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dbd972bf814ef7" /><Relationship Type="http://schemas.openxmlformats.org/officeDocument/2006/relationships/notesMaster" Target="/ppt/notesMasters/notesMaster1.xml" Id="R770039f8cc034b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135813f324a51" /><Relationship Type="http://schemas.openxmlformats.org/officeDocument/2006/relationships/notesMaster" Target="/ppt/notesMasters/notesMaster1.xml" Id="R4b7c4b5d2e9a41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1ddf191af454a40" /><Relationship Type="http://schemas.openxmlformats.org/officeDocument/2006/relationships/notesMaster" Target="/ppt/notesMasters/notesMaster1.xml" Id="R405d60f06b6846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c4e7145ef44dde" /><Relationship Type="http://schemas.openxmlformats.org/officeDocument/2006/relationships/notesMaster" Target="/ppt/notesMasters/notesMaster1.xml" Id="Red283b87fdcf4b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8a5a87a6484026" /><Relationship Type="http://schemas.openxmlformats.org/officeDocument/2006/relationships/notesMaster" Target="/ppt/notesMasters/notesMaster1.xml" Id="Rc105c48cb3b143a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13dc7bac88b4578" /><Relationship Type="http://schemas.openxmlformats.org/officeDocument/2006/relationships/notesMaster" Target="/ppt/notesMasters/notesMaster1.xml" Id="Rd5fafbcedb3e49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e392f4af864f72" /><Relationship Type="http://schemas.openxmlformats.org/officeDocument/2006/relationships/notesMaster" Target="/ppt/notesMasters/notesMaster1.xml" Id="R8285c94686e344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b5039f98cc47b1" /><Relationship Type="http://schemas.openxmlformats.org/officeDocument/2006/relationships/notesMaster" Target="/ppt/notesMasters/notesMaster1.xml" Id="R89b6752a2fb241c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46a49c48eb0495e" /><Relationship Type="http://schemas.openxmlformats.org/officeDocument/2006/relationships/notesMaster" Target="/ppt/notesMasters/notesMaster1.xml" Id="Rcfed3b9dbaca4f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ba81eb28384d1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ec4d10f0af247d7" /><Relationship Type="http://schemas.openxmlformats.org/officeDocument/2006/relationships/slideLayout" Target="/ppt/slideLayouts/slideLayout2.xml" Id="Rdcb081adac6440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cb081adac6440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155b9dc4bb45a0" /><Relationship Type="http://schemas.openxmlformats.org/officeDocument/2006/relationships/notesSlide" Target="/ppt/notesSlides/notesSlide1.xml" Id="R2edb26341d2341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c787adb794aec" /><Relationship Type="http://schemas.openxmlformats.org/officeDocument/2006/relationships/notesSlide" Target="/ppt/notesSlides/notesSlide2.xml" Id="Re6363a465ac64c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ff315764bd44143" /><Relationship Type="http://schemas.openxmlformats.org/officeDocument/2006/relationships/notesSlide" Target="/ppt/notesSlides/notesSlide3.xml" Id="Rbb5701738e0c43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e8f891b4d14142" /><Relationship Type="http://schemas.openxmlformats.org/officeDocument/2006/relationships/notesSlide" Target="/ppt/notesSlides/notesSlide4.xml" Id="Rfe98601b46fd49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b9eebd675de4d9d" /><Relationship Type="http://schemas.openxmlformats.org/officeDocument/2006/relationships/notesSlide" Target="/ppt/notesSlides/notesSlide5.xml" Id="R22dc7876e7614f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8839e53bf04f72" /><Relationship Type="http://schemas.openxmlformats.org/officeDocument/2006/relationships/notesSlide" Target="/ppt/notesSlides/notesSlide6.xml" Id="R1038af5f2a5345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d2d47b35a940d2" /><Relationship Type="http://schemas.openxmlformats.org/officeDocument/2006/relationships/notesSlide" Target="/ppt/notesSlides/notesSlide7.xml" Id="R4770c5fd6e3a47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568f5a82d74bec" /><Relationship Type="http://schemas.openxmlformats.org/officeDocument/2006/relationships/notesSlide" Target="/ppt/notesSlides/notesSlide8.xml" Id="Rd73a9cba07794f0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e0e579cc3774bee" /><Relationship Type="http://schemas.openxmlformats.org/officeDocument/2006/relationships/notesSlide" Target="/ppt/notesSlides/notesSlide9.xml" Id="R4e27be111df24e6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3fd419e38074670" /><Relationship Type="http://schemas.openxmlformats.org/officeDocument/2006/relationships/image" Target="/ppt/media/image.png" Id="R0eb21e0640724af2" /><Relationship Type="http://schemas.openxmlformats.org/officeDocument/2006/relationships/notesSlide" Target="/ppt/notesSlides/notesSlide10.xml" Id="Rd3456894f353457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1d5d3c2a434cbe" /><Relationship Type="http://schemas.openxmlformats.org/officeDocument/2006/relationships/notesSlide" Target="/ppt/notesSlides/notesSlide11.xml" Id="R1eda849242674d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3727eebe4d4a08" /><Relationship Type="http://schemas.openxmlformats.org/officeDocument/2006/relationships/notesSlide" Target="/ppt/notesSlides/notesSlide12.xml" Id="R269430b2b57944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C796266-853E-49A0-B13D-207D844F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63D25CA-3B29-46C4-9530-CAE045AB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MEACOMPASS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7656A3-F586-4011-AFAD-AD27E687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Reliability-Aware Early Prediction of Neural Network Development from Microelectrode-Array Assays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A23FAC-F7A4-4F1F-B113-060B1D9A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Toward Functional Digital Twins for Neural Organ-on-Chip Screening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6AA9D8-744B-4EE2-A630-1DFF7CCB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F4E34-DDB5-472A-9E7A-44F95DF1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4E337A-7277-4809-B10A-7FCDA249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A74248-110E-48A9-9A25-86307DCB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57375"/>
            <a:ext cx="876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useful endpoint arrives at DIV12. Triage should not wait blindly.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BC2D0-260B-42B1-9F0B-055A616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814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864F7-2002-42ED-A243-FF42B7E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7312D-EC59-4095-AAE9-EB99F199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457575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DIV5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A30356-9D82-4793-B896-9F73072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814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C2220-BE18-4A37-BC53-7ACE4BC2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766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2FBAA1-33E3-4375-9F3B-D1835A03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57575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DIV7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304881-2D86-43F1-9C80-7C883628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81400"/>
            <a:ext cx="1857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0352E-41B9-4DAE-A7EB-1CA95233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76600"/>
            <a:ext cx="1562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32EAE1-9430-4EC5-92C4-2E200C4C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57575"/>
            <a:ext cx="1562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FORECAST / WAIT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2BBBD8-BDC9-4769-B047-A48A4A54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76600"/>
            <a:ext cx="8382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DBBAF4-4E2A-474B-8A0F-B1243C2D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57575"/>
            <a:ext cx="838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DIV12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0AA5A-6AF0-48E0-AE98-28B6CDEC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171950"/>
            <a:ext cx="20955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49B8A8"/>
                </a:solidFill>
                <a:latin typeface="Georgia"/>
                <a:ea typeface="Georgia"/>
                <a:cs typeface="Georgia"/>
              </a:defRPr>
            </a:pPr>
            <a:r>
              <a:rPr sz="2700" b="1">
                <a:solidFill>
                  <a:srgbClr val="49B8A8"/>
                </a:solidFill>
                <a:latin typeface="Georgia"/>
                <a:ea typeface="Georgia"/>
                <a:cs typeface="Georgia"/>
              </a:rPr>
              <a:t>5 days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6C6EFB-11D5-45E1-BFE3-60984820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62500"/>
            <a:ext cx="7429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DIV7 forecasts are available five days before the DIV12 endpoint for accepted cases.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A451B2-6A81-4AF2-BF9E-4CC1ED4D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590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136 chemicals  •  4,192 complete longitudinal trajectories</a:t>
            </a:r>
          </a:p>
        </p:txBody>
      </p:sp>
    </p:spTree>
    <p:extLst>
      <p:ext uri="{BB962C8B-B14F-4D97-AF65-F5344CB8AC3E}">
        <p14:creationId xmlns:p14="http://schemas.microsoft.com/office/powerpoint/2010/main" val="15227091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26C0B0F-4675-4727-A619-D9CD7004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020C04F-E425-411D-B292-96469984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THE CONCEPT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7162C2-3302-4EDE-B86E-AE636261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MEACompass forecasts—and knows when not 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5146C7-7236-4341-BA73-D00A3057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7B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82"/>
                </a:solidFill>
                <a:latin typeface="Aptos"/>
                <a:ea typeface="Aptos"/>
                <a:cs typeface="Aptos"/>
              </a:rPr>
              <a:t>Evidence, uncertainty, and human review are part of one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1582A-3468-4D1E-BC01-415EB9BE5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B7E0C-519F-4CE7-8BB1-BDE7A1FEF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F4BE5-D1C3-457B-8AF1-D9BD13FB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731F0-1764-46BB-A16C-5CAD7499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81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C9F4FA-7388-45BA-AA38-9481908D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AACBB-554E-4D3B-A520-FFEB1E74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FCF21F-AD4D-48E5-847E-75BD7BDD2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95FC4B-11E4-4F1D-BC17-39816E62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 + DIV7 physiology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EAAF8B-D477-417C-A7FC-3FBD8565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81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1FE57-5DAA-44FF-8EC3-528C840D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22801-DB34-452C-98F7-3417BC42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A5C184-45F4-4332-A69F-C5AFFEE9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PREDICTED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375818-9404-446C-9222-8E5899E8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DIV12 value + 90% interval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BE9B5B-8998-42C8-B57F-92E517B0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F6E90-FED9-4B21-AE84-B920130A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9A43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07E8EF-35A5-443B-BE69-2D6945C9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97226-CF35-42E1-B5E8-4E2AEA16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F96C8-913B-46DC-874A-D7493DFA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accept or abstain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5A39B1-25C3-4445-91C2-E29FC271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19400"/>
            <a:ext cx="23622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F715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5F9197-70C4-4DEE-8386-A9B53EAD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A33555-2588-4A8C-8D13-DAA7E760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219450"/>
            <a:ext cx="20193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EC7067-A44A-487D-98C4-561E9976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609975"/>
            <a:ext cx="20193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future neural OoC adaptation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EA75A-BA50-4906-924B-FBEBC156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48250"/>
            <a:ext cx="8763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Uncertain cases continue to DIV12. MEACompass never terminates an assay autonomously.</a:t>
            </a:r>
          </a:p>
        </p:txBody>
      </p:sp>
    </p:spTree>
    <p:extLst>
      <p:ext uri="{BB962C8B-B14F-4D97-AF65-F5344CB8AC3E}">
        <p14:creationId xmlns:p14="http://schemas.microsoft.com/office/powerpoint/2010/main" val="15972908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477BC46-50CF-43CA-81E4-222CAED3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F41E10B-5D62-449F-8715-DEF918D3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SCIENTIFIC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A86241-FAC9-42BE-ABB8-1132D0E1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A credible forecast begins with an honest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A7FEF2-8826-46B5-B083-A2C13101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B4FE6-7032-4DF9-B39F-5D974758D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047498-D1F2-4FB4-8676-E97C1BE8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9560C2-E61B-4DC4-B35F-F7BFF5C2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9FC8A-2223-42AB-8AA7-70719A78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9825"/>
            <a:ext cx="4419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WHAT THIS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1D9826-9D02-42F8-B6DB-E8C3F7833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44196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Retrospective rat cortical neural microelectrode-array research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Chemical-disjoint DIV12 prediction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Calibrated research decision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1446C-093E-484C-A68A-71288072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24790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EF715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408ACF-5A43-4945-B3F6-29335154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09825"/>
            <a:ext cx="4419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WHAT THIS IS NOT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85F6F2-6B0C-44FC-BA74-16C14BD72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09875"/>
            <a:ext cx="44196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Not organ-on-chip training data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Not human or external-device validation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Not an autonomous assay-termination system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715519-5CBB-4518-BE7B-04371A59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91125"/>
            <a:ext cx="933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Human neural OoC transfer remains a hypothesis until a frozen prospective study validates it.</a:t>
            </a:r>
          </a:p>
        </p:txBody>
      </p:sp>
    </p:spTree>
    <p:extLst>
      <p:ext uri="{BB962C8B-B14F-4D97-AF65-F5344CB8AC3E}">
        <p14:creationId xmlns:p14="http://schemas.microsoft.com/office/powerpoint/2010/main" val="4818260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65DA922-3262-485D-8D27-AA04FF58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DA1347-2A87-4322-BCC2-0D1A17A3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EVALUATION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850A4-A83D-4694-BF39-586A2BA6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split follows the chemical—not the convenient row.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E90EDC-8F40-4562-BD6A-75A4F686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Every dose, alias, replicate, and well for one chemical stays together.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148B4-D6A5-4F0B-A5A1-87B11387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06543-538C-40D7-8D20-77A7DD1A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94CFC4-47C4-485E-930A-00583890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17DE7-54C7-4C71-A252-6B5A23AA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17299-5324-44CA-807E-BEC00476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52700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136 CHEMICALS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B184CB-A18B-412C-BE86-D78D1F50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52750"/>
            <a:ext cx="23241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Canonical CAS groups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4,200 complete trajectories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E35BB6-16C9-4276-B4AF-F94BD6985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2385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19307E-7D17-478C-82EE-1845FF19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09800"/>
            <a:ext cx="2667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3C7DB-504F-4D37-8C53-D4220304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62200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3 × 5 OUTER FOLDS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E43A9E-5847-46A9-A6EC-991E766D2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2324100" cy="1352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Held-out chemicals only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Inner validation selects baselines and settings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1F8CA1-8059-4626-9429-C445EF6D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3850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D5B3E-88D6-4348-926A-13772491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4003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9A43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B598CD-25A1-4C4D-8A28-8317D126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52700"/>
            <a:ext cx="2324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CHEMICAL BOOTSTRAP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C9DE42-5509-4FC2-9271-A22BA320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52750"/>
            <a:ext cx="23241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Paired uncertainty at the true generalization unit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D96D15-3CB6-4F3B-BE4B-2417A5B5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000625"/>
            <a:ext cx="4476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Outer-test labels evaluate. They never select.</a:t>
            </a:r>
          </a:p>
        </p:txBody>
      </p:sp>
    </p:spTree>
    <p:extLst>
      <p:ext uri="{BB962C8B-B14F-4D97-AF65-F5344CB8AC3E}">
        <p14:creationId xmlns:p14="http://schemas.microsoft.com/office/powerpoint/2010/main" val="2655018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A952EAB-3CA5-4B60-B8F9-97E44CBE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8467436-3A77-40F2-BE6B-93DFB6E3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LOCKED PRIMARY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A5E88-9324-4D58-8584-AA9688C8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Frozen M1 improves all five endpoints against the fair comparator.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415799-95C8-4E15-AFD9-E2FB0696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7B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82"/>
                </a:solidFill>
                <a:latin typeface="Aptos"/>
                <a:ea typeface="Aptos"/>
                <a:cs typeface="Aptos"/>
              </a:rPr>
              <a:t>MAE gain versus inner-selected BT+; every paired chemical-bootstrap interval excludes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D82AF7-2F49-4503-A50E-AB1C8BD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AF45C-7725-421C-B59F-8F1066CF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6A02F7-03E4-4739-8ED1-6598ECDC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93135-F10E-498D-9D2C-6CC5DA17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Firing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196EC6-3764-4EEF-A380-9A9962EE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E46F6-F163-4CAD-8D85-6B5AABF61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71700"/>
            <a:ext cx="177119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E80144-B2C9-4B81-A9D8-FB48D08A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145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14.2%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01448E-8BB2-4D1B-BCF2-47DA4B01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Bursts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E3A40-9D38-4C7E-8CDF-F1B943C0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179C57-7F73-471D-A9F5-A501FF2B7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05100"/>
            <a:ext cx="2120446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644480-9517-46A6-AD54-EF3AEB88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6700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17.0%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2FF67E-C655-45E1-A5D5-1E9065D04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BB94FA-FF94-46B3-A3CB-1151E25C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1704D5-D029-4334-807E-7E810E5D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4864554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26776-B443-4E33-821B-0DEA8047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194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39.0%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2FB511-A5C6-4795-A98C-D6EE7749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3234F9-E6D0-4198-BC77-33F03A60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48510C-8F7C-4032-BC93-CBBFB42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10000"/>
            <a:ext cx="1945821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9603A-4C84-4411-9325-FB2D07E7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7190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15.6%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7CA0F8-D298-48E8-B8E6-54209B4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1619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98E2D5-79B0-42A4-992A-5FDDB9FA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523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8413B4-A142-4D0B-AE0E-AA9D9644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381500"/>
            <a:ext cx="283142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50D511-CF95-4AF5-A866-655856BC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24350"/>
            <a:ext cx="57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22.7%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D16DA1-BD52-4AA7-9F82-E59FC093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19300"/>
            <a:ext cx="2667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6A3EB8-E8EE-4336-8011-11333FE3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238375"/>
            <a:ext cx="2190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BT++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1C24F5-7013-4FEC-AED1-706B0E9EC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47950"/>
            <a:ext cx="2190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12.3–42.9%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9E5932-C958-43FE-91EF-EF1EDFE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286125"/>
            <a:ext cx="2133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gain versus the stricter post-audit comparator; significant on all five endpoints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18E821-AFD1-42A3-8127-8AA4AEC4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52900"/>
            <a:ext cx="952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4DD001-562F-431B-A8F0-5B121DFC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267200"/>
            <a:ext cx="2095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DIV7 contribution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56.9–77.3%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3725EE-31E1-4443-9233-6F9F09A5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619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7747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7747B"/>
                </a:solidFill>
                <a:latin typeface="Aptos"/>
                <a:ea typeface="Aptos"/>
                <a:cs typeface="Aptos"/>
              </a:rPr>
              <a:t>Chemistry 11.2–31.8% • association, not mechanism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21C28F-4F80-4C51-958A-C1DF752C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38750"/>
            <a:ext cx="4095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Failure case disclosed: tributyltin chloride</a:t>
            </a:r>
          </a:p>
        </p:txBody>
      </p:sp>
    </p:spTree>
    <p:extLst>
      <p:ext uri="{BB962C8B-B14F-4D97-AF65-F5344CB8AC3E}">
        <p14:creationId xmlns:p14="http://schemas.microsoft.com/office/powerpoint/2010/main" val="8325973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308FEC41-2E08-44FA-9A56-0524F1FA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DAF7AAC-8E0D-41EF-B83B-17E8CB60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INTEGRITY BEFORE MOMENTUM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4931B-180B-4503-A778-C54D08BD5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negative control stopped us—then the audit earned conditional continuation.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F35CE-199B-4A5E-B555-93EBAA1AE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8DD6E7-86CB-4920-B669-5AE14D1B1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8AD37-457F-4753-97F7-8A7CE483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02D02-713E-48C0-AFA8-98327A404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52412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EF715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214C2-13D3-4439-B3F7-5B6BC686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47950"/>
            <a:ext cx="218122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REGISTERED STOP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1B7053-E534-4058-9E1A-5D8F7D1B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2181225" cy="1114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Chemical-block permutation showed a small bursts gain.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3E0731-D996-4EA7-B6D2-0E830125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909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580836-A146-4779-A40A-EFCDD971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47900"/>
            <a:ext cx="28575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D9A43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EE412-5D23-4F4B-B924-6B0BF7F1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09825"/>
            <a:ext cx="2514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BOUNDED AUDIT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32301-E5B7-45BC-9235-200196A1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809875"/>
            <a:ext cx="2514600" cy="15906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 future-derived feature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Clean full-target shuffle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No alignment defect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Real M1 beat all 20 block-null runs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53B7B9-B9B4-4752-BB84-316B2591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90900"/>
            <a:ext cx="1619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C3B6AE-8AA6-43D8-BE89-778DA34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76500"/>
            <a:ext cx="2238375" cy="1857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59B48E-3661-4A05-9A2C-B5FB670F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647950"/>
            <a:ext cx="1895475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12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CONDITIONAL PASS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BADF9-B409-4C46-A3D1-8D5B306E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048000"/>
            <a:ext cx="1895475" cy="1114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Failure remains visible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BT++ added as safeguard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5866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8666D"/>
                </a:solidFill>
                <a:latin typeface="Aptos"/>
                <a:ea typeface="Aptos"/>
                <a:cs typeface="Aptos"/>
              </a:rPr>
              <a:t>Locked claims unchanged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36465-725D-489F-8E03-0F74606F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86375"/>
            <a:ext cx="7334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audit resolved a mechanism question. It did not erase the original stop.</a:t>
            </a:r>
          </a:p>
        </p:txBody>
      </p:sp>
    </p:spTree>
    <p:extLst>
      <p:ext uri="{BB962C8B-B14F-4D97-AF65-F5344CB8AC3E}">
        <p14:creationId xmlns:p14="http://schemas.microsoft.com/office/powerpoint/2010/main" val="256751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10C66A-245F-4072-8EBB-0E0DA8834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8B9EB1C-0C9E-46D5-8E59-90BE9266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CALIBRATED UNCERTAINTY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FE7F9-F9E2-47CF-A8F3-7A8C19B2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Nominal 90% intervals cover 91.0–92.4% in held-out chemicals.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FDF328-D5C0-4F89-867C-CB2CDD48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91F60-AC5A-4C7D-A275-05604F949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071D4-74D4-4C5C-8511-8125567E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164D4-2BE6-41ED-88A6-2E061B90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90900"/>
            <a:ext cx="971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5CAFC-47F1-4572-A2B6-13DCEF32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00400"/>
            <a:ext cx="285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168E7-A2B6-4449-BE63-22C2B3EB9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86075"/>
            <a:ext cx="1047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90% nominal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C51AEB-6931-488E-B590-E5A6C77C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0CEDDD-3431-4EDD-BA47-F22F2450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100A9A-AEF3-41FA-9D98-20AB8DC1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0330FD-041D-438C-B2C1-B76AEAD9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6BDA89-92EE-4A63-A5CF-254A52D0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276600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3E09BD-50E2-4C45-BB11-C44288C47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B06FEB-9B7B-4649-8D07-7E85ABD4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Bursts 91.08%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C1EB11-6048-4112-8D2B-E8C6D8248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B84E1-07F9-484C-9517-C845E3D3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Firing 91.53%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C53EC-F9AB-4301-9195-5323302C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ED22A-EDFC-41FC-B763-C8EACFBA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Active 92.13%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26529-CC25-4DF2-94AC-95E074F7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060AFB-A8A0-4E89-B988-25EA8D003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Spikes 91.03%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0046D-BE59-408D-AFD9-4FA9DDA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26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D568A1-81AD-4121-98DA-6FBCB54B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4181475"/>
            <a:ext cx="1285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r 92.40%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85CD05-0C61-4C82-9209-96CF5136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38750"/>
            <a:ext cx="866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5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Nested group CV+ • calibration uses training chemicals only • intervals travel with every forecast</a:t>
            </a:r>
          </a:p>
        </p:txBody>
      </p:sp>
    </p:spTree>
    <p:extLst>
      <p:ext uri="{BB962C8B-B14F-4D97-AF65-F5344CB8AC3E}">
        <p14:creationId xmlns:p14="http://schemas.microsoft.com/office/powerpoint/2010/main" val="7481764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FC3558C-CC8E-4F92-83EF-5E34B84E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698BBB2-1C48-405D-90E8-A11A065E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SELECTIVE PREDICTION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B51EBE-3C89-440A-B0FA-1DC0AF13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Abstention clears the risk threshold on three endpoints—not five.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36472-8427-44AD-A3F0-94F3F6E1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06680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6F7B8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F7B82"/>
                </a:solidFill>
                <a:latin typeface="Aptos"/>
                <a:ea typeface="Aptos"/>
                <a:cs typeface="Aptos"/>
              </a:rPr>
              <a:t>Accepted-case MAE reduction at 70% retained coverage; registered threshold = 15%.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00231-C1BC-418A-81D3-DB3D5AE1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C9DAD-58CA-4E3E-98E9-95A97BDB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F5B184-F570-4958-8EC8-A2A3B56C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0E25E2-5272-4D76-A864-DCF4F909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Firing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FF92F-001C-4D7D-B872-3612AEB2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34ABA8-1CBF-42DA-9BB6-921DEAE5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33600"/>
            <a:ext cx="3769221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C57E9-DD6A-4755-9167-315F2292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574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11CEA-C2AB-41F9-9E39-4784C3B3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66925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18.9%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15E9DB-B0DA-4F56-8051-899144CC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06692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D2FB7-2CEC-4CE1-8CC3-99DC6446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Bursts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A0358F-61EB-49D2-B03A-622BA0B5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50CC0-616C-4379-B478-98836469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9173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A70E90-7FB9-4692-A14E-147EA94E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051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7C0E3E-886B-4D26-9255-63B305157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05100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4.6%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40D79-1F0C-4F4F-B83B-DA312E82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2705100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9718E7-AA85-4E00-B0C9-6A62DEE6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Active electrodes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524EF-293D-4401-935A-E42CA2CD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3B26B7-EE27-4F48-92C3-99EB6045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90900"/>
            <a:ext cx="3589734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F248C4-7118-4953-A66D-1DA6274E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337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83491-C224-4D78-A6B3-229D1D771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343275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18.0%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664426-B85B-406C-B38E-DFD656731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34327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19C442-8370-4211-8E22-7989B84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0025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Network spikes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AD43B5-10E3-460E-AB34-BA21108A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017A7F-EF39-430F-A4E5-818F3BF0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38600"/>
            <a:ext cx="1056977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71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B5767C-5CEB-4491-AF8A-7B48B96C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8145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BCD6F2-AC27-40AE-91EE-6FDA39B5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981450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5.3%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9FA883-C676-4B35-8AC4-08674F06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3981450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LIMITATION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DB070C-8EC6-43B9-8F51-87252286C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48200"/>
            <a:ext cx="1809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Coordinated activity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611CA34-F4AC-4C86-B917-CE969DF0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6381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E5532A-D3AE-4EB2-9A77-2C7823E8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86300"/>
            <a:ext cx="5663803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8FBAD2-158D-4D85-886C-24789054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610100"/>
            <a:ext cx="190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46D6CAC-805B-4B67-8334-5B8CCA2A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19625"/>
            <a:ext cx="762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10202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202B"/>
                </a:solidFill>
                <a:latin typeface="Aptos"/>
                <a:ea typeface="Aptos"/>
                <a:cs typeface="Aptos"/>
              </a:rPr>
              <a:t>28.4%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D4D408B-3B4A-408F-8841-0F770F40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619625"/>
            <a:ext cx="9525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E20902-48A4-4664-B4F2-86C11503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619750"/>
            <a:ext cx="7524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Uncertain cases continue to DIV12; this policy does not terminate assays.</a:t>
            </a:r>
          </a:p>
        </p:txBody>
      </p:sp>
    </p:spTree>
    <p:extLst>
      <p:ext uri="{BB962C8B-B14F-4D97-AF65-F5344CB8AC3E}">
        <p14:creationId xmlns:p14="http://schemas.microsoft.com/office/powerpoint/2010/main" val="51318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B330DB40-42FA-437B-8A9C-96DCDAE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982BD62-6E0D-4E3B-B683-671D4EDC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TIME CAUSALITY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49AC6-C8E6-4704-9AD7-7FF56BA64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DIV7 is the earliest useful decision point; interpretability explains why.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C19CC4-B079-4F44-A24B-0C11C3DB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54682A-0557-4A44-AF15-3B944A61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4CB5B-D61D-48B5-A906-8E2A320C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70C39-3B43-429A-BE5F-02822BD9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619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B1482-A4A8-4D20-A75F-4C41E477B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91000"/>
            <a:ext cx="1276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0F2424-DF40-4470-A25C-06F474D89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33900"/>
            <a:ext cx="1276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weaker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4B613-F870-4134-B627-E17398B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67100"/>
            <a:ext cx="2000250" cy="1400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7B69BC-CFFB-4A3C-A272-3FCF297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67125"/>
            <a:ext cx="1657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 + DIV7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891FB-4D12-4BCF-A60C-29529D29E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010025"/>
            <a:ext cx="1657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primary locked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EA0C36-442E-44DE-97B8-0A980C32E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95600"/>
            <a:ext cx="2190750" cy="1971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49A86-1426-4C11-B5C1-B9FC500E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95625"/>
            <a:ext cx="1847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DIV5 + 7 + 9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35E8F2-E622-4486-A1C6-63414348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438525"/>
            <a:ext cx="1847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post-lock ablation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07062B-3295-4499-9292-8DF23EA3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24100"/>
            <a:ext cx="247650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43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4ACE3B-B9DC-4FE0-9520-AC4922806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133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12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DIV12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B7955-3EC4-42EC-B51F-25351B30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67025"/>
            <a:ext cx="2133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5D696F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D696F"/>
                </a:solidFill>
                <a:latin typeface="Aptos"/>
                <a:ea typeface="Aptos"/>
                <a:cs typeface="Aptos"/>
              </a:rPr>
              <a:t>observed endpoint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CB19C4-6E06-4B0B-91E4-D855A95D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24100"/>
            <a:ext cx="704850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94B827-7F72-44C4-83C6-8CEC93E3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552700"/>
            <a:ext cx="514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DIV7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56.9–77.3%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265578-D2F8-430A-9FCB-D859A95CC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505200"/>
            <a:ext cx="514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CHEM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11.2–31.8%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60490-D20D-496C-A7E8-4CC66A0D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3333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900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One disclosed failure: tributyltin chloride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6A345A-B3FA-4C28-BC25-AEB62518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4286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Interpretability is predictive, not causal.</a:t>
            </a:r>
          </a:p>
        </p:txBody>
      </p:sp>
    </p:spTree>
    <p:extLst>
      <p:ext uri="{BB962C8B-B14F-4D97-AF65-F5344CB8AC3E}">
        <p14:creationId xmlns:p14="http://schemas.microsoft.com/office/powerpoint/2010/main" val="21079310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F61F3F3-042D-440A-83C5-371853B58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03006A2-364A-4EBE-9BCD-77C3C743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REAL PUBLIC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B6582D-06D9-435F-B68B-6B7AB33B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demo keeps evidence, forecast, and hypothesis visibly separate.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F65446-3D74-4B04-978E-25679C0C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59CC1F-933B-4F3C-85E1-CF7AA593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1BD83-D298-4D37-B727-44C5A1F6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B546A-43B5-41FF-9EB2-51A6C705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14500"/>
            <a:ext cx="796290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6F0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pic>
        <p:nvPicPr>
          <p:cNvPr id="8" name="public-demo-cap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b21e0640724a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771650"/>
            <a:ext cx="7810500" cy="43910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343B1E-3371-4F64-9F42-B69A904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81175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75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LIVE • LOGGED 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B3730-93FF-443D-B793-DFA9CB789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336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78470A-2029-4317-9803-5F100B204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71725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OBSERVED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F7FF2-575D-407E-BE9B-EB740BE1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47950"/>
            <a:ext cx="266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early DIV5 + DIV7 evidence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8C7F79-3DA8-486B-AFC2-AE5B90D0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6E41B7-7F8A-460C-B375-4CC59535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333750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PREDICTED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C3B57-F79A-4218-A430-ED357DFD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09975"/>
            <a:ext cx="266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DIV12 forecast + nominal 90% interval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56302-5BAD-4AFE-B44F-078849FC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2291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B0E698-83F3-469F-8E92-0C219677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67225"/>
            <a:ext cx="2667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2ADBCD-BD99-4705-9855-47A1DF3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43450"/>
            <a:ext cx="2667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OoC transfer remains unvalidated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EB03DF-A60A-4158-940C-5C08F67E6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72125"/>
            <a:ext cx="266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0">
                <a:solidFill>
                  <a:srgbClr val="AEBB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BC2"/>
                </a:solidFill>
                <a:latin typeface="Aptos"/>
                <a:ea typeface="Aptos"/>
                <a:cs typeface="Aptos"/>
              </a:rPr>
              <a:t>Precomputed held-out predictions • no training • no external requests</a:t>
            </a:r>
          </a:p>
        </p:txBody>
      </p:sp>
    </p:spTree>
    <p:extLst>
      <p:ext uri="{BB962C8B-B14F-4D97-AF65-F5344CB8AC3E}">
        <p14:creationId xmlns:p14="http://schemas.microsoft.com/office/powerpoint/2010/main" val="65486251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9DBB136-F866-48E4-B08D-1763A346C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E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83E8055-A348-4680-94DC-EA778FB1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ADAPT, DO NOT DEPLOY BLINDLY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224A7-6798-4B49-8E53-67C5C3C4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10202B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10202B"/>
                </a:solidFill>
                <a:latin typeface="Georgia"/>
                <a:ea typeface="Georgia"/>
                <a:cs typeface="Georgia"/>
              </a:rPr>
              <a:t>Cohort-shift evidence is encouraging; a new chip still requires local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95C48C-D50C-4E79-9B93-F0CA5C7C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D8C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A6A38B-8BA7-4891-948F-9F57F3AC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DBB44C-866B-49D1-BC5B-043F28989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7E858A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7E858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E2057-2BE7-48C8-A492-DE168F3A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58C9F-719C-4848-8D3F-00FAEEA0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D9A43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D9A431"/>
                </a:solidFill>
                <a:latin typeface="Aptos"/>
                <a:ea typeface="Aptos"/>
                <a:cs typeface="Aptos"/>
              </a:rPr>
              <a:t>POST-LOCK SECONDARY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365412-4DA0-4628-BBD1-9EB83A97F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1476375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 /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69EE13-CC46-4F75-BA15-681674A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47975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endpoint wins in both directions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A87C0-1C02-4673-AFE8-FA440C90A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ToxCast → NTP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B788A-4DB5-49CA-9950-8B0F744C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76625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10.3–34.5%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F261DB-6F08-4A89-B2A5-5A393F41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814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NTP → ToxCast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491276-B825-4152-A3C4-1CD6814A9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814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15.1–50.3%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17A981-B9DF-4DD0-9DFF-335B00ED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95800"/>
            <a:ext cx="4191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B8C3C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8C3C9"/>
                </a:solidFill>
                <a:latin typeface="Aptos"/>
                <a:ea typeface="Aptos"/>
                <a:cs typeface="Aptos"/>
              </a:rPr>
              <a:t>Held-out cohort shift; not external laboratory/device transfer.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7E229-8DB0-41C5-BD45-B5EB9E77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057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3E863A-8A19-4FB8-A391-6559AB5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0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1  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8D165A-D72B-4140-AAD7-646071EB4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Local endpoints + controls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20F522-2CD7-4892-88FF-29AEAA342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356EE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6AAB9-E358-4692-A052-FA3A9BEA8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0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356EE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EE6"/>
                </a:solidFill>
                <a:latin typeface="Aptos"/>
                <a:ea typeface="Aptos"/>
                <a:cs typeface="Aptos"/>
              </a:rPr>
              <a:t>2   RETRAIN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64363F-FACC-419B-AA73-9651B974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38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Local longitudinal data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13FCFE-846B-4F0B-887E-047AC0B6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81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709D7E-1829-4C4B-9804-337BE9246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24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3   RECALIBRATE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44FD8A-699C-4217-81EB-9E04448AD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62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Intervals + drift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1253F-E991-476F-85F7-92344031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81400"/>
            <a:ext cx="2190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49B8A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B591E6-522F-4CAB-A4F4-11CEEA7B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24275"/>
            <a:ext cx="1847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4   VALIDATE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120775-F762-47F1-8D1F-824F82D2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2425"/>
            <a:ext cx="18478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64717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178"/>
                </a:solidFill>
                <a:latin typeface="Aptos"/>
                <a:ea typeface="Aptos"/>
                <a:cs typeface="Aptos"/>
              </a:rPr>
              <a:t>Prospective human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E38170-7AB4-4015-A1F3-E7215E7A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975" b="1">
                <a:solidFill>
                  <a:srgbClr val="EF71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EF715E"/>
                </a:solidFill>
                <a:latin typeface="Aptos"/>
                <a:ea typeface="Aptos"/>
                <a:cs typeface="Aptos"/>
              </a:rPr>
              <a:t>The frozen EPA model is not a deployable neural OoC model.</a:t>
            </a:r>
          </a:p>
        </p:txBody>
      </p:sp>
    </p:spTree>
    <p:extLst>
      <p:ext uri="{BB962C8B-B14F-4D97-AF65-F5344CB8AC3E}">
        <p14:creationId xmlns:p14="http://schemas.microsoft.com/office/powerpoint/2010/main" val="18735696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020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4D337CB-D749-4B93-8F8D-1D96C79A0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B8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89D8121-1AA4-49A0-BFCE-BDCCF006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5275"/>
            <a:ext cx="31432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REPRODUCE WITHOUT RETRAINING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5266F-C248-4FF1-89D7-E8E01F99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85800"/>
            <a:ext cx="110109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4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4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The locked evidence rebuilds in minutes from committed predictions.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992C0-8EA7-4973-954D-234FFBFF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11010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43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38247-6F44-4092-84D7-E1DD2CDC4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72250"/>
            <a:ext cx="476250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MEACompass  |  locked retrospective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C7264-37AC-4A48-884F-9596166E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72250"/>
            <a:ext cx="361950" cy="133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600" b="0">
                <a:solidFill>
                  <a:srgbClr val="8B979F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8B979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40685D-120F-48F1-80CD-1E8BC674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5095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7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6480E-11BF-485C-A792-5F6169E2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3812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78C9A-A822-4B34-A97D-864670A3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8384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fetch-results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F97A06-65E1-4FB6-99D3-2E182514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956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22672-B1E0-4F31-B816-4FE85B40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528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49B8A8"/>
                </a:solidFill>
                <a:latin typeface="Consolas"/>
                <a:ea typeface="Consolas"/>
                <a:cs typeface="Consolas"/>
              </a:defRPr>
            </a:pPr>
            <a:r>
              <a:rPr sz="1125" b="1">
                <a:solidFill>
                  <a:srgbClr val="49B8A8"/>
                </a:solidFill>
                <a:latin typeface="Consolas"/>
                <a:ea typeface="Consolas"/>
                <a:cs typeface="Consolas"/>
              </a:rPr>
              <a:t>$ make reproduce-lite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799260-EDAD-480A-ADCD-610DCCCBB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1005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$ make demo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919B0D-9EE8-4B04-BADA-6F87D2A2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33625"/>
            <a:ext cx="3905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49B8A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9B8A8"/>
                </a:solidFill>
                <a:latin typeface="Aptos"/>
                <a:ea typeface="Aptos"/>
                <a:cs typeface="Aptos"/>
              </a:rPr>
              <a:t>NO AUTOMATIC RETRAINING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58445E-4315-4418-8C9B-BCC0A97A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05125"/>
            <a:ext cx="4095750" cy="1619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Saved predictions → tables → figures → demo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Manifest hashes verify the evidence bundle.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C6D0D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D0D5"/>
                </a:solidFill>
                <a:latin typeface="Aptos"/>
                <a:ea typeface="Aptos"/>
                <a:cs typeface="Aptos"/>
              </a:rPr>
              <a:t>Full training requires an explicit locked-rebuild flag.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63FF3-4913-430F-A9CE-3198C88D0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Forecast when evidence is strong; continue the assay when it is not.</a:t>
            </a:r>
          </a:p>
        </p:txBody>
      </p:sp>
    </p:spTree>
    <p:extLst>
      <p:ext uri="{BB962C8B-B14F-4D97-AF65-F5344CB8AC3E}">
        <p14:creationId xmlns:p14="http://schemas.microsoft.com/office/powerpoint/2010/main" val="18919358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2026-09-29T15:59:10.0470000Z</dcterms:created>
  <dcterms:modified xsi:type="dcterms:W3CDTF">2026-09-29T15:59:10.0470000Z</dcterms:modified>
</coreProperties>
</file>