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84239ce8324132" /><Relationship Type="http://schemas.openxmlformats.org/officeDocument/2006/relationships/extended-properties" Target="/docProps/app.xml" Id="R51e59dcadbf34d06" /><Relationship Type="http://schemas.openxmlformats.org/officeDocument/2006/relationships/officeDocument" Target="/ppt/presentation.xml" Id="R094c358426454c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ab4e12c1194689"/>
  </p:sldMasterIdLst>
  <p:notesMasterIdLst>
    <p:notesMasterId xmlns:r="http://schemas.openxmlformats.org/officeDocument/2006/relationships" r:id="R8ea4a0a244424164"/>
  </p:notesMasterIdLst>
  <p:sldIdLst>
    <p:sldId xmlns:r="http://schemas.openxmlformats.org/officeDocument/2006/relationships" id="256" r:id="R936c9fbbde67486b"/>
    <p:sldId xmlns:r="http://schemas.openxmlformats.org/officeDocument/2006/relationships" id="257" r:id="R6ae3736c40b14923"/>
    <p:sldId xmlns:r="http://schemas.openxmlformats.org/officeDocument/2006/relationships" id="258" r:id="Rb1cf95cd4d0f458d"/>
    <p:sldId xmlns:r="http://schemas.openxmlformats.org/officeDocument/2006/relationships" id="259" r:id="R06b3d9a977ef4941"/>
    <p:sldId xmlns:r="http://schemas.openxmlformats.org/officeDocument/2006/relationships" id="260" r:id="R026ab24894eb4b30"/>
    <p:sldId xmlns:r="http://schemas.openxmlformats.org/officeDocument/2006/relationships" id="261" r:id="Rea624b1ccf164324"/>
    <p:sldId xmlns:r="http://schemas.openxmlformats.org/officeDocument/2006/relationships" id="262" r:id="R40a5a20b1cc146c8"/>
    <p:sldId xmlns:r="http://schemas.openxmlformats.org/officeDocument/2006/relationships" id="263" r:id="R51cb59e6d4bc4d80"/>
    <p:sldId xmlns:r="http://schemas.openxmlformats.org/officeDocument/2006/relationships" id="264" r:id="Rd1a45bb0159d4594"/>
    <p:sldId xmlns:r="http://schemas.openxmlformats.org/officeDocument/2006/relationships" id="265" r:id="R3c52376e02d048ce"/>
    <p:sldId xmlns:r="http://schemas.openxmlformats.org/officeDocument/2006/relationships" id="266" r:id="Racac10aabfd041e4"/>
    <p:sldId xmlns:r="http://schemas.openxmlformats.org/officeDocument/2006/relationships" id="267" r:id="Rfcc31c62731b480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b4e12c1194689" /><Relationship Type="http://schemas.openxmlformats.org/officeDocument/2006/relationships/theme" Target="/ppt/theme/theme1.xml" Id="Reb5820b1bb2042eb" /><Relationship Type="http://schemas.openxmlformats.org/officeDocument/2006/relationships/notesMaster" Target="/ppt/notesMasters/notesMaster1.xml" Id="R8ea4a0a244424164" /><Relationship Type="http://schemas.openxmlformats.org/officeDocument/2006/relationships/presProps" Target="/ppt/presProps.xml" Id="R5f24daa5a15b49d9" /><Relationship Type="http://schemas.openxmlformats.org/officeDocument/2006/relationships/viewProps" Target="/ppt/viewProps.xml" Id="R50182c4854c14549" /><Relationship Type="http://schemas.openxmlformats.org/officeDocument/2006/relationships/tableStyles" Target="/ppt/tableStyles.xml" Id="R7573bf24d1eb4d09" /><Relationship Type="http://schemas.openxmlformats.org/officeDocument/2006/relationships/slide" Target="/ppt/slides/slide1.xml" Id="R936c9fbbde67486b" /><Relationship Type="http://schemas.openxmlformats.org/officeDocument/2006/relationships/slide" Target="/ppt/slides/slide2.xml" Id="R6ae3736c40b14923" /><Relationship Type="http://schemas.openxmlformats.org/officeDocument/2006/relationships/slide" Target="/ppt/slides/slide3.xml" Id="Rb1cf95cd4d0f458d" /><Relationship Type="http://schemas.openxmlformats.org/officeDocument/2006/relationships/slide" Target="/ppt/slides/slide4.xml" Id="R06b3d9a977ef4941" /><Relationship Type="http://schemas.openxmlformats.org/officeDocument/2006/relationships/slide" Target="/ppt/slides/slide5.xml" Id="R026ab24894eb4b30" /><Relationship Type="http://schemas.openxmlformats.org/officeDocument/2006/relationships/slide" Target="/ppt/slides/slide6.xml" Id="Rea624b1ccf164324" /><Relationship Type="http://schemas.openxmlformats.org/officeDocument/2006/relationships/slide" Target="/ppt/slides/slide7.xml" Id="R40a5a20b1cc146c8" /><Relationship Type="http://schemas.openxmlformats.org/officeDocument/2006/relationships/slide" Target="/ppt/slides/slide8.xml" Id="R51cb59e6d4bc4d80" /><Relationship Type="http://schemas.openxmlformats.org/officeDocument/2006/relationships/slide" Target="/ppt/slides/slide9.xml" Id="Rd1a45bb0159d4594" /><Relationship Type="http://schemas.openxmlformats.org/officeDocument/2006/relationships/slide" Target="/ppt/slides/slide10.xml" Id="R3c52376e02d048ce" /><Relationship Type="http://schemas.openxmlformats.org/officeDocument/2006/relationships/slide" Target="/ppt/slides/slide11.xml" Id="Racac10aabfd041e4" /><Relationship Type="http://schemas.openxmlformats.org/officeDocument/2006/relationships/slide" Target="/ppt/slides/slide12.xml" Id="Rfcc31c62731b48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074f91c5cd44f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0ef62f350d4545" /><Relationship Type="http://schemas.openxmlformats.org/officeDocument/2006/relationships/notesMaster" Target="/ppt/notesMasters/notesMaster1.xml" Id="R58b160da09ea4f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6883f6e5034041" /><Relationship Type="http://schemas.openxmlformats.org/officeDocument/2006/relationships/notesMaster" Target="/ppt/notesMasters/notesMaster1.xml" Id="R68d5ae22a97740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a7685638694ba2" /><Relationship Type="http://schemas.openxmlformats.org/officeDocument/2006/relationships/notesMaster" Target="/ppt/notesMasters/notesMaster1.xml" Id="R5968ce4935f743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09b7ddbaf14068" /><Relationship Type="http://schemas.openxmlformats.org/officeDocument/2006/relationships/notesMaster" Target="/ppt/notesMasters/notesMaster1.xml" Id="R860534eda68d41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a074624fca403d" /><Relationship Type="http://schemas.openxmlformats.org/officeDocument/2006/relationships/notesMaster" Target="/ppt/notesMasters/notesMaster1.xml" Id="Rb8f9a41c0c394c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c5e109f78e440c" /><Relationship Type="http://schemas.openxmlformats.org/officeDocument/2006/relationships/notesMaster" Target="/ppt/notesMasters/notesMaster1.xml" Id="Ra40f1e1464d148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b8452ab7a24bf2" /><Relationship Type="http://schemas.openxmlformats.org/officeDocument/2006/relationships/notesMaster" Target="/ppt/notesMasters/notesMaster1.xml" Id="R8eb562f09bb840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011aacd4ad4b57" /><Relationship Type="http://schemas.openxmlformats.org/officeDocument/2006/relationships/notesMaster" Target="/ppt/notesMasters/notesMaster1.xml" Id="R964a05f1f5d84a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60d17c07ad44f6" /><Relationship Type="http://schemas.openxmlformats.org/officeDocument/2006/relationships/notesMaster" Target="/ppt/notesMasters/notesMaster1.xml" Id="Rcc87cd02105d4d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9e7cf661cd41fc" /><Relationship Type="http://schemas.openxmlformats.org/officeDocument/2006/relationships/notesMaster" Target="/ppt/notesMasters/notesMaster1.xml" Id="Rbcd08afe4fc84a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dbeca7d1504e4d" /><Relationship Type="http://schemas.openxmlformats.org/officeDocument/2006/relationships/notesMaster" Target="/ppt/notesMasters/notesMaster1.xml" Id="R396d7a388c7e42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4fb6851b3b4753" /><Relationship Type="http://schemas.openxmlformats.org/officeDocument/2006/relationships/notesMaster" Target="/ppt/notesMasters/notesMaster1.xml" Id="R0b0ccdab9e7c4f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82ec45a85499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8958bce5f684184" /><Relationship Type="http://schemas.openxmlformats.org/officeDocument/2006/relationships/slideLayout" Target="/ppt/slideLayouts/slideLayout2.xml" Id="R125f20743a644e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5f20743a644e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2fbfdbf054680" /><Relationship Type="http://schemas.openxmlformats.org/officeDocument/2006/relationships/notesSlide" Target="/ppt/notesSlides/notesSlide1.xml" Id="R4a316ce37abf47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1757f0e1734b88" /><Relationship Type="http://schemas.openxmlformats.org/officeDocument/2006/relationships/notesSlide" Target="/ppt/notesSlides/notesSlide2.xml" Id="R07536556ed3b45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d0abf225494ebb" /><Relationship Type="http://schemas.openxmlformats.org/officeDocument/2006/relationships/notesSlide" Target="/ppt/notesSlides/notesSlide3.xml" Id="Ra3393dad7b6f43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a7c760014a45d0" /><Relationship Type="http://schemas.openxmlformats.org/officeDocument/2006/relationships/notesSlide" Target="/ppt/notesSlides/notesSlide4.xml" Id="Re400208c092645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e7cae2b30e49c6" /><Relationship Type="http://schemas.openxmlformats.org/officeDocument/2006/relationships/notesSlide" Target="/ppt/notesSlides/notesSlide5.xml" Id="R693ab210599f44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067b664e3c4041" /><Relationship Type="http://schemas.openxmlformats.org/officeDocument/2006/relationships/notesSlide" Target="/ppt/notesSlides/notesSlide6.xml" Id="R6ab6686d22d946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aeeaa43ab842d0" /><Relationship Type="http://schemas.openxmlformats.org/officeDocument/2006/relationships/notesSlide" Target="/ppt/notesSlides/notesSlide7.xml" Id="R9df44902cf264f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05c34f9fb146a3" /><Relationship Type="http://schemas.openxmlformats.org/officeDocument/2006/relationships/notesSlide" Target="/ppt/notesSlides/notesSlide8.xml" Id="Rd7fca61f72ad46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5e61decefa4161" /><Relationship Type="http://schemas.openxmlformats.org/officeDocument/2006/relationships/notesSlide" Target="/ppt/notesSlides/notesSlide9.xml" Id="Ra3cbbdfc94c449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2cf0f421dc433e" /><Relationship Type="http://schemas.openxmlformats.org/officeDocument/2006/relationships/notesSlide" Target="/ppt/notesSlides/notesSlide10.xml" Id="Rb6cf2887030349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14d03b28ce499b" /><Relationship Type="http://schemas.openxmlformats.org/officeDocument/2006/relationships/notesSlide" Target="/ppt/notesSlides/notesSlide11.xml" Id="R9d158a1017e243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5a0973fe4f424b" /><Relationship Type="http://schemas.openxmlformats.org/officeDocument/2006/relationships/notesSlide" Target="/ppt/notesSlides/notesSlide12.xml" Id="R65512f31de8945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E7703A3-4E05-49AE-BED0-4BEC23D8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EF3A72-B586-41E0-8890-D3A10C2E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THE DELAY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FCCE1-5D39-4A81-ACBE-3CC53E6C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useful endpoint arrives at DIV12. Triage should not wait blindly.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44ED5-0F96-41A9-AFB6-2D1FA357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83930-011E-4BB3-BB21-382722C7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20282-38D7-41AF-8977-61D0B0B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06B98-3C9A-409E-8C53-5450B8F1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876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8C3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C3C9"/>
                </a:solidFill>
                <a:latin typeface="Aptos"/>
                <a:ea typeface="Aptos"/>
                <a:cs typeface="Aptos"/>
              </a:rPr>
              <a:t>Rat cortical neural network formation is measured over days—not in a single snapshot.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991EB-4EDF-431A-9F12-4B02937C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81400"/>
            <a:ext cx="1857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F52F1-131E-4ACC-A517-70C89E6A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838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F0FE8-D658-432C-AD13-3EF47F41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57575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DIV5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87E51-8B22-41E2-A2D0-8B02739D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1857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E4751-92A1-4D9A-A64A-1A2C343A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76600"/>
            <a:ext cx="838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60DA5-EB6F-4BAD-BC0F-FA28B8FF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57575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DIV7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DDB72-AE81-48CF-9E1B-872848F2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81400"/>
            <a:ext cx="1857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B8979-97FE-44FF-B08D-E69BE3F5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1562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54B12-E9D7-4C6D-BBF1-1897B310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57575"/>
            <a:ext cx="1562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FORECAST / WAIT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A291B-09CC-4C89-9280-DEBA35C6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76600"/>
            <a:ext cx="838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169D8-CBCA-40D6-9932-E091707B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57575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DIV12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792D4-7593-424D-BADA-3CF19AF7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209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49B8A8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49B8A8"/>
                </a:solidFill>
                <a:latin typeface="Georgia"/>
                <a:ea typeface="Georgia"/>
                <a:cs typeface="Georgia"/>
              </a:rPr>
              <a:t>5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ADF04-1D6D-449B-BC7B-3C7F8024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742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DIV7 forecasts are available five days before the DIV12 endpoint for accepted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92379-98E7-433A-A6C3-20E95217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29250"/>
            <a:ext cx="590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B8C3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3C9"/>
                </a:solidFill>
                <a:latin typeface="Aptos"/>
                <a:ea typeface="Aptos"/>
                <a:cs typeface="Aptos"/>
              </a:rPr>
              <a:t>136 chemicals  •  4,192 complete longitudinal trajectories</a:t>
            </a:r>
          </a:p>
        </p:txBody>
      </p:sp>
    </p:spTree>
    <p:extLst>
      <p:ext uri="{BB962C8B-B14F-4D97-AF65-F5344CB8AC3E}">
        <p14:creationId xmlns:p14="http://schemas.microsoft.com/office/powerpoint/2010/main" val="883664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D91C466-1235-4135-B7D9-ED1246CF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A1B16C9-5834-488C-A48B-FA67FD3F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THE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961F0-9BFE-4883-AFD6-5541BBB4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MEACompass forecasts—and knows when not 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204CD-D65A-48BB-9036-0BED2932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0668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7B8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82"/>
                </a:solidFill>
                <a:latin typeface="Aptos"/>
                <a:ea typeface="Aptos"/>
                <a:cs typeface="Aptos"/>
              </a:rPr>
              <a:t>Evidence, uncertainty, and human review are part of one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59879-80CD-4994-94B2-772524A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A8E37-B486-435F-8057-D28B6630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B86BD-0374-41F7-BCB6-796B584D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4937E-BD8A-4784-86A5-2D5128A4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814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1497A-9087-4542-881F-5A026472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356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6BE0A-07BE-493E-A593-85A429D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F0B37-528D-4860-A2DA-3D1EF0E7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19450"/>
            <a:ext cx="2019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OBSERVED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CCAAE-97DA-443A-AE1D-6CB54119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09975"/>
            <a:ext cx="2019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DIV5 + DIV7 physiology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43063-25AF-43BA-B0E9-1A59BFA7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814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CD549-2458-4849-9B36-069CBE0C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1940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00B69-704C-4938-B78D-B1FE20B4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6AA4F-B21F-4B07-A80B-68541343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19450"/>
            <a:ext cx="2019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PREDICTED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E3863-9EA6-4086-BF0F-598864EC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9975"/>
            <a:ext cx="2019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DIV12 value + 90% interval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D8906-FB55-462A-B512-902CB1CD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19ABB-5D4C-4E35-85C5-7D1ED0D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A43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16600-C937-4624-9E31-68BD4C1E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049E6-BC05-4BA9-A66B-62579239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19450"/>
            <a:ext cx="2019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D9A43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A431"/>
                </a:solidFill>
                <a:latin typeface="Aptos"/>
                <a:ea typeface="Aptos"/>
                <a:cs typeface="Aptos"/>
              </a:rPr>
              <a:t>DECISION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3EEDC7-CE01-4C47-B8E1-65A1C82D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609975"/>
            <a:ext cx="2019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accept or abstain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2471C-881A-48A1-BC88-17F8AC12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1940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F71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FAE72-FE47-4EF6-9C5E-9D3485A8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1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44641-803A-461E-A411-46783C07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219450"/>
            <a:ext cx="2019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HYPOTHESIS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1230A-4144-4E8B-9BF5-CA31305D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609975"/>
            <a:ext cx="2019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future neural OoC adaptation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EA2A75-3420-4239-8F96-2BEB7A19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Uncertain cases continue to DIV12. MEACompass never terminates an assay autonomously.</a:t>
            </a:r>
          </a:p>
        </p:txBody>
      </p:sp>
    </p:spTree>
    <p:extLst>
      <p:ext uri="{BB962C8B-B14F-4D97-AF65-F5344CB8AC3E}">
        <p14:creationId xmlns:p14="http://schemas.microsoft.com/office/powerpoint/2010/main" val="19105218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71C4925-8EA3-4715-B057-1CD65219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5E3E5A-D481-4DFD-8CBD-3840BB3E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SCIENTIFIC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FA37E-B029-42A5-8F80-CEEA00CA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A credible forecast begins with an honest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9C064-98E8-47E0-80E5-B7D7D742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92486-913F-4F1C-87FB-6937DD85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15472-8F6A-47A8-BF57-7D31840C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B6694-437C-47C1-AA7B-DFC8C9D8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77601-90A3-4A6E-8BFD-4EB43D8D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4419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WHAT THIS 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FB925-79F1-40CF-9149-9EE845E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9875"/>
            <a:ext cx="44196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Retrospective rat cortical neural microelectrode-array research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Chemical-disjoint DIV12 prediction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Calibrated research decision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0E124-9F63-4D7B-9D57-7B2E1A0C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F71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7BF1C-B4D4-4BAF-B6B9-79E6E02E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9825"/>
            <a:ext cx="4419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WHAT THIS IS NOT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214EF-07DD-4560-B6B0-F264889A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9875"/>
            <a:ext cx="44196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Not organ-on-chip training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Not human or external-device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Not an autonomous assay-termination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E275F-CD80-4B9F-8EE3-07A39C15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Human neural OoC transfer remains a hypothesis until a frozen prospective study validates it.</a:t>
            </a:r>
          </a:p>
        </p:txBody>
      </p:sp>
    </p:spTree>
    <p:extLst>
      <p:ext uri="{BB962C8B-B14F-4D97-AF65-F5344CB8AC3E}">
        <p14:creationId xmlns:p14="http://schemas.microsoft.com/office/powerpoint/2010/main" val="2033871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CA928F1-1CC8-4ED6-9A9E-19967C97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DF0B499-3DB7-4B5C-88A9-EE74E619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EVALUATION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F61DD-BC2A-49BC-A187-40352A11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split follows the chemical—not the convenient row.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45029-77DA-4124-AD5E-A1144BA6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0668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8C3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3C9"/>
                </a:solidFill>
                <a:latin typeface="Aptos"/>
                <a:ea typeface="Aptos"/>
                <a:cs typeface="Aptos"/>
              </a:rPr>
              <a:t>Every dose, alias, replicate, and well for one chemical stays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6BB92-F4E2-496C-8646-B70D20C1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E86F4-D2AF-4C8B-A737-CF58AA25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2CF51-7355-46B7-AC14-11717ABA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0E7BD-9121-4F1E-8E55-916FCFD3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66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5831C-1733-4685-88F2-555F8101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52700"/>
            <a:ext cx="2324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136 CHEMICALS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442FF-F7EA-4DEB-B9EA-C505D4D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52750"/>
            <a:ext cx="23241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Canonical CAS groups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4,200 complete trajectories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BF90D-4CE8-4A6E-99B4-F8D00AF7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D3560-7281-4A97-A1A3-88C7F5BC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9800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356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8384B-BBD1-4DD5-A3E4-29BC69C9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62200"/>
            <a:ext cx="2324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3 × 5 OUTER FOLDS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FBF5F-7CC3-47B2-90B8-227EA8F3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23241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Held-out chemicals only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Inner validation selects baselines and settings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5FB46-9110-4D7D-B664-2484C682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D88EB-07FE-4791-B739-5848D7DB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266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9A43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07117-7D88-49CE-B791-EEDD6C76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52700"/>
            <a:ext cx="2324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CHEMICAL BOOTSTRAP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60001-370F-40C9-8E5F-C9F2F85A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52750"/>
            <a:ext cx="23241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Paired uncertainty at the true generalization unit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60894-9AB9-45B7-B704-89857300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00625"/>
            <a:ext cx="447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Outer-test labels evaluate. They never select.</a:t>
            </a:r>
          </a:p>
        </p:txBody>
      </p:sp>
    </p:spTree>
    <p:extLst>
      <p:ext uri="{BB962C8B-B14F-4D97-AF65-F5344CB8AC3E}">
        <p14:creationId xmlns:p14="http://schemas.microsoft.com/office/powerpoint/2010/main" val="15138402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F478DE-D534-4F57-B0BE-D3AF42CB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14F5951-C721-4BD3-94CB-8E17B227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LOCKED PRIMARY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8194F-7075-4F52-AE9A-A62CD337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Frozen M1 improves all five endpoints against the fair comparator.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AD410-58A1-4111-91BF-B1A76883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0668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7B8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82"/>
                </a:solidFill>
                <a:latin typeface="Aptos"/>
                <a:ea typeface="Aptos"/>
                <a:cs typeface="Aptos"/>
              </a:rPr>
              <a:t>MAE gain versus inner-selected BT+; every paired chemical-bootstrap interval excludes zero.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47622-06CC-406A-ABC2-6E483D71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71ECF-BE37-4587-915C-8D55A393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9EBD3-18D1-41D0-B001-CBC4BB8E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29DA8-7E54-489D-84BA-C1649559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Firing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B50E6-69EE-4833-A7B9-A39F3E52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71700"/>
            <a:ext cx="523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9E728-8783-4E89-9013-066AF287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71700"/>
            <a:ext cx="177119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B3AD4-EB1F-447F-A7C0-EF2FA1E2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14.2%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C335F-7668-41D6-80E6-14692A36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Bursts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A2A58-FA06-4D8D-B98D-739C310D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523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C745B-5BC5-4051-8B19-238C90ED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212044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898CD-68C3-4D23-9D7C-34D04C07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6700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17.0%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442A0-78D0-4C96-9086-3E720307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Active electrodes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AACEC-BE5B-4C0D-B870-3A1328A1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76600"/>
            <a:ext cx="523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25432-EC31-4DFA-8C7B-91BD4044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76600"/>
            <a:ext cx="486455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1BC25-9933-4FE4-9107-14768F39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39.0%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53415-9930-45F0-B802-00F5975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Network spikes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62E01-1A24-444B-B1B4-4CE706D8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10000"/>
            <a:ext cx="523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6E7B8-2E66-4D56-B925-83D1DB39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10000"/>
            <a:ext cx="194582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4E1A3-1F8D-4ED3-9521-00B0335E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7190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15.6%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7F61F4-335A-495D-8CEC-E8A6F833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Coordinated activity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CBEFC9-8CB3-4D03-BF49-29969688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523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EF1D0-88B2-403A-97AB-B596E6EF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283142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BD34EA-85C2-4481-B756-CCA0464D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22.7%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7D82F-2622-478C-B220-3C7BA197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19300"/>
            <a:ext cx="266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45D898-D670-41A7-97E1-C5995640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38375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9A4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A431"/>
                </a:solidFill>
                <a:latin typeface="Aptos"/>
                <a:ea typeface="Aptos"/>
                <a:cs typeface="Aptos"/>
              </a:rPr>
              <a:t>BT++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DC2D2-04D0-4677-BC18-D78BC568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2190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12.3–42.9%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FF9349-5E95-440D-88BF-9C39FF03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86125"/>
            <a:ext cx="2133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C6D0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6D0D5"/>
                </a:solidFill>
                <a:latin typeface="Aptos"/>
                <a:ea typeface="Aptos"/>
                <a:cs typeface="Aptos"/>
              </a:rPr>
              <a:t>gain versus the stricter post-audit comparator; significant on all five endpoints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57B764-FC35-4B53-B8DB-D14E8BA2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529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DDF7FA-358E-45BB-A557-E4DDF74D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67200"/>
            <a:ext cx="209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DIV7 contribution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56.9–77.3%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06F4EE-1F6E-468E-9F76-6973F0BA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774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747B"/>
                </a:solidFill>
                <a:latin typeface="Aptos"/>
                <a:ea typeface="Aptos"/>
                <a:cs typeface="Aptos"/>
              </a:rPr>
              <a:t>Chemistry 11.2–31.8% • association, not mechanism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CA1AE7-0958-4C66-BE97-3891002A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Failure case disclosed: tributyltin chloride</a:t>
            </a:r>
          </a:p>
        </p:txBody>
      </p:sp>
    </p:spTree>
    <p:extLst>
      <p:ext uri="{BB962C8B-B14F-4D97-AF65-F5344CB8AC3E}">
        <p14:creationId xmlns:p14="http://schemas.microsoft.com/office/powerpoint/2010/main" val="309231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89BBA4-8366-407C-8EA8-209E58C0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F5D2E0C-D573-45EB-BD8C-20ED7DFB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INTEGRITY BEFORE MOMENTUM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FF9E7-8B84-41B0-9D02-573C51B0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negative control stopped us—then the audit earned conditional continuation.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81A34-BBE7-4642-9DF9-55196C8C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2C1D4-FE33-46E8-A14D-715248F9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7D0DB-9ED5-4AFC-8A62-CD60CC7A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466B0-4D2B-48CE-BD7C-0FDAF1A9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5241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EF71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B5D08-6A69-4C8F-A6F5-E736197F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1812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REGISTERED STOP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60234-05AF-40B8-85AA-7230DC41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181225" cy="1114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Chemical-block permutation showed a small bursts gain.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1FD2B-0721-41E2-9B72-A07EB9EF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909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1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132C0-D722-40F5-8718-8AE1D8F4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47900"/>
            <a:ext cx="2857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9A43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9F40A-3BCF-4473-A64A-73C67BFF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09825"/>
            <a:ext cx="251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BOUNDED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AAAB6-DC83-4E61-99A7-C3B504EE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09875"/>
            <a:ext cx="2514600" cy="1590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No future-derived feature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Clean full-target shuffle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No alignment defect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Real M1 beat all 20 block-null runs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809DB-35EA-4590-A07A-DE16605B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909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EEE01-6539-4058-AE56-0C55B137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76500"/>
            <a:ext cx="223837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8DE32-7FDC-44AA-87EA-96F3E1D2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47950"/>
            <a:ext cx="18954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CONDITIONAL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DD62B-1170-4516-A629-FD345C56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48000"/>
            <a:ext cx="1895475" cy="1114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Failure remains visible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BT++ added as safeguard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Locked claims unchanged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B045C-F780-4A9C-A34F-F0E68823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86375"/>
            <a:ext cx="7334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audit resolved a mechanism question. It did not erase the original stop.</a:t>
            </a:r>
          </a:p>
        </p:txBody>
      </p:sp>
    </p:spTree>
    <p:extLst>
      <p:ext uri="{BB962C8B-B14F-4D97-AF65-F5344CB8AC3E}">
        <p14:creationId xmlns:p14="http://schemas.microsoft.com/office/powerpoint/2010/main" val="736287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827EDF8-0332-4FD9-BA06-3D81A20A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138569-FD69-4A1F-8F15-4D5E9A43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CALIBRATED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C370F-DC0B-4142-8F47-1A93269E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Nominal 90% intervals cover 91.0–92.4% in held-out chemicals.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DDC10-0C70-4A66-8AA1-A0727127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7E03E-C8E5-4D25-A4B0-6C1797BF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A0AEA-F216-4389-892B-1EEB68D1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8A4F8-0C51-40E7-A5D3-DE446A7E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803A3-80B1-4DAF-87FB-B0309E83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1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6E627-96B9-498B-9A2F-2D480777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86075"/>
            <a:ext cx="1047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90% nominal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802A4-AEB9-48DF-8082-694D8649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EF4BC-6EB3-4979-B4F2-02860630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766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47B7E-5DEA-45B2-BC3A-94A8C8E1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766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E2CA5-368C-46D9-8F1B-608BCF14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9F855-3F16-491E-AF50-3FA74623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766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15FEC-D7F6-4410-85A5-E3E7B30D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19C4C-8A5A-4759-8DB7-395645A6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18147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Bursts 91.08%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D291D-302C-45B6-A893-55F18EF2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8572E-7568-4EDC-A4D8-F00A13A0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8147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Firing 91.53%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471484-1320-499C-9A29-2F7A545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4EA4E-3881-4952-9828-7E4CFB8F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8147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Active 92.13%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E9A89-76F9-41E3-88B0-B31CD5C7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1C058-1026-41E5-939E-EBB6776F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8147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Spikes 91.03%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5A525-D186-4BB0-8E1F-E8A615A8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F59D23-1148-4A1E-B858-C6624D3F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18147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r 92.40%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66F9C7-8C99-4FF3-A8F6-12CC112E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38750"/>
            <a:ext cx="866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Nested group CV+ • calibration uses training chemicals only • intervals travel with every forecast</a:t>
            </a:r>
          </a:p>
        </p:txBody>
      </p:sp>
    </p:spTree>
    <p:extLst>
      <p:ext uri="{BB962C8B-B14F-4D97-AF65-F5344CB8AC3E}">
        <p14:creationId xmlns:p14="http://schemas.microsoft.com/office/powerpoint/2010/main" val="2666832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8F74556-188D-4F71-A3C3-ABD3E8E4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019D25-7D9E-4FD8-BC12-73940F09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SELECTIVE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ADB85-9DD5-41B5-BF5F-0B23722E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Abstention clears the risk threshold on three endpoints—not five.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81206-50F9-44E0-B255-080DC40B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0668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7B8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82"/>
                </a:solidFill>
                <a:latin typeface="Aptos"/>
                <a:ea typeface="Aptos"/>
                <a:cs typeface="Aptos"/>
              </a:rPr>
              <a:t>Accepted-case MAE reduction at 70% retained coverage; registered threshold = 15%.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FF28D-5B92-47A9-9D71-7200F619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B0D1F-8010-418F-9298-EFFC85FF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8A37C-A66A-410B-89EC-72D3DB06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1C82F-CE07-4F19-92D5-42C0DE3C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Firing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877AD-ED79-4EE2-929F-858237B9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638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53231-30F6-48C2-90AF-909BCE1F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376922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F376A-4BA4-4D24-BF49-DE04EF80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5740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EAC49-FD07-4D9B-BDBB-755B4B55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66925"/>
            <a:ext cx="76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18.9%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D0262-DC39-4FDC-9A87-FD4F2F0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066925"/>
            <a:ext cx="95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3156A-60E2-484D-85E1-1BDFD4A5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Bursts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6D996-72E7-4B93-8550-30BCE3C7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638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5D074-665A-46C5-9653-AF2E6FAA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9173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1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8CE73-8771-444D-A641-8E60B8A1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DAB7C-86CC-46C7-8AC4-73908C3C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05100"/>
            <a:ext cx="76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4.6%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9BEFE-6F2E-49B7-BA92-6BFAF733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705100"/>
            <a:ext cx="95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867EB-95D6-48DB-B66D-81005178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Active electrodes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BC0AE-8FB6-46C5-A59B-22ADDB10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638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B076D6-1800-4A3E-8636-CFA9A1FE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358973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7FB15-71EB-4345-B83C-A1D44C18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35D0C4-C387-4463-A1B3-FE02264B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43275"/>
            <a:ext cx="76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18.0%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A9426D-C460-4859-A69A-C4C50AF7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343275"/>
            <a:ext cx="95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18B8DB-C968-4538-9965-9597BA1A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Network spikes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E1273A-7B3F-42E5-96CE-A0D0989D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638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993C76-F03F-4291-9009-E9849B22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10569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1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0F3FC1-F523-499E-BC3C-D75DD295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8145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F27949-38AA-4EA6-AE4B-DB49071A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76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5.3%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2FF0F0-E924-4374-AC53-CBD51F30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81450"/>
            <a:ext cx="95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3831F0-3358-4157-83E3-63F8D531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Coordinated activity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093E0-3D36-453C-9C4E-9CD39E1D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638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C30546-D0D0-49E0-969D-AB3892FE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566380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515DA2-BE93-496B-99B3-436F72DA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1010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C827D9-528C-4259-9BD1-14215211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19625"/>
            <a:ext cx="76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28.4%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188D08-9209-4DF2-B334-DB4D6028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19625"/>
            <a:ext cx="95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925A43-503E-4152-A3C9-153206D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19750"/>
            <a:ext cx="7524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Uncertain cases continue to DIV12; this policy does not terminate assays.</a:t>
            </a:r>
          </a:p>
        </p:txBody>
      </p:sp>
    </p:spTree>
    <p:extLst>
      <p:ext uri="{BB962C8B-B14F-4D97-AF65-F5344CB8AC3E}">
        <p14:creationId xmlns:p14="http://schemas.microsoft.com/office/powerpoint/2010/main" val="583371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D699C8-8E01-4E66-A280-ED6774C2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59CFC16-6D71-4E54-BAC1-3027B33B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TIME CAUSALITY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1BD7E-0642-4E6A-B5D5-68A1EE7B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DIV7 is the earliest useful decision point; interpretability explains why.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4B60A-74F1-4B67-8ABF-052FB7F6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CAB7D-76D4-4B7E-BBDA-E4C8BA4B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2246F-D018-4353-B658-276F3495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B10A8-4FAF-4A99-95C7-ADD14073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50057-D802-452D-99EB-B6CA87BC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DIV5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0B912-4F60-4CD8-85B6-40BE583A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D69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F"/>
                </a:solidFill>
                <a:latin typeface="Aptos"/>
                <a:ea typeface="Aptos"/>
                <a:cs typeface="Aptos"/>
              </a:rPr>
              <a:t>weaker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3F736-4B9A-4FD1-96CB-CBC07061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67100"/>
            <a:ext cx="20002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A8BA3-6032-428B-BD5D-8381F8BE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67125"/>
            <a:ext cx="1657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DIV5 + DIV7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6C99B-F03F-4A00-B217-CE9E692E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10025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D69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F"/>
                </a:solidFill>
                <a:latin typeface="Aptos"/>
                <a:ea typeface="Aptos"/>
                <a:cs typeface="Aptos"/>
              </a:rPr>
              <a:t>primary locked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09F94-FC17-4F4C-B948-44217261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95600"/>
            <a:ext cx="21907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7CAE0-7523-4482-B86D-809B4807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95625"/>
            <a:ext cx="184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DIV5 + 7 + 9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2D728-27F8-4590-A9CE-95378965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38525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D69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F"/>
                </a:solidFill>
                <a:latin typeface="Aptos"/>
                <a:ea typeface="Aptos"/>
                <a:cs typeface="Aptos"/>
              </a:rPr>
              <a:t>post-lock ablation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983D7-1729-4C38-A029-676137A8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476500" cy="254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ADD1E-0FB7-4F8E-979E-95199B9A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DIV12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0F33D6-FA7F-4878-B1B1-B6AA80F2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67025"/>
            <a:ext cx="213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D69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F"/>
                </a:solidFill>
                <a:latin typeface="Aptos"/>
                <a:ea typeface="Aptos"/>
                <a:cs typeface="Aptos"/>
              </a:rPr>
              <a:t>observed endpoint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5A148-7AEF-4416-9E38-27F141E8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24100"/>
            <a:ext cx="704850" cy="254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F1344-12B5-44BE-8B5B-06ACA567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552700"/>
            <a:ext cx="514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DIV7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56.9–77.3%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FEBB2-A593-4C46-8AE6-93592E7F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505200"/>
            <a:ext cx="514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D9A43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A431"/>
                </a:solidFill>
                <a:latin typeface="Aptos"/>
                <a:ea typeface="Aptos"/>
                <a:cs typeface="Aptos"/>
              </a:rPr>
              <a:t>CHEM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D9A43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A431"/>
                </a:solidFill>
                <a:latin typeface="Aptos"/>
                <a:ea typeface="Aptos"/>
                <a:cs typeface="Aptos"/>
              </a:rPr>
              <a:t>11.2–31.8%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2B054-43CF-43D5-8A71-595FDE8E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9700"/>
            <a:ext cx="333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One disclosed failure: tributyltin chloride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CA8B7-D068-48F7-A5BC-FFED90E8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28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8C3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3C9"/>
                </a:solidFill>
                <a:latin typeface="Aptos"/>
                <a:ea typeface="Aptos"/>
                <a:cs typeface="Aptos"/>
              </a:rPr>
              <a:t>Interpretability is predictive, not causal.</a:t>
            </a:r>
          </a:p>
        </p:txBody>
      </p:sp>
    </p:spTree>
    <p:extLst>
      <p:ext uri="{BB962C8B-B14F-4D97-AF65-F5344CB8AC3E}">
        <p14:creationId xmlns:p14="http://schemas.microsoft.com/office/powerpoint/2010/main" val="1905276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22D6F2-D7F0-450C-ADA4-F0D4E5C6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18EFA40-F821-41AC-8B3B-AB73841D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WORKING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40D4C-69C1-4A38-839B-99FCE80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demo keeps evidence, forecast, and hypothesis visibly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A18EC-2099-43C5-A1F5-B7D894A8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CB5A8-6CB6-4B31-A62B-B57AB431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37B12-A02E-47F4-91F6-E128D4A6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92D24-FA56-4828-A034-C381BC32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5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0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ACD45-8557-489F-8F2D-62DE912A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5524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F715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EF715E"/>
                </a:solidFill>
                <a:latin typeface="Georgia"/>
                <a:ea typeface="Georgia"/>
                <a:cs typeface="Georgia"/>
              </a:rPr>
              <a:t>REAL DEMO CAPTURE 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84698-DFA3-4D41-8AF7-CF0F65EB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71875"/>
            <a:ext cx="723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261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A"/>
                </a:solidFill>
                <a:latin typeface="Aptos"/>
                <a:ea typeface="Aptos"/>
                <a:cs typeface="Aptos"/>
              </a:rPr>
              <a:t>The local static demo is complete, but the mandated in-app browser connection was unavailable in this session. No fake screenshot has been substituted.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4959B-5F88-4970-864C-4532D2CE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685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docs/demo/index.html  •  precomputed held-out predictions  •  no external requests</a:t>
            </a:r>
          </a:p>
        </p:txBody>
      </p:sp>
    </p:spTree>
    <p:extLst>
      <p:ext uri="{BB962C8B-B14F-4D97-AF65-F5344CB8AC3E}">
        <p14:creationId xmlns:p14="http://schemas.microsoft.com/office/powerpoint/2010/main" val="5994818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3E457CE-9C76-45EE-80D7-C7F4F20F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56AB54-E057-4B1E-AADE-254DB433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ADAPT, DO NOT DEPLOY BLINDLY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5EC25-1AFE-4E8F-8D9C-2F4F2B65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Cohort-shift evidence is encouraging; a new chip still requires local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78A97-4FD7-493D-BADB-121F4C5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32DFA-60A4-44C1-9B08-7F85F5CE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BB970-C00C-4666-BCDE-E5617D87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45EF9-8FA4-4A41-A33A-0623307D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1C018-E188-4CEF-A63C-72D0A3D8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D9A43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A431"/>
                </a:solidFill>
                <a:latin typeface="Aptos"/>
                <a:ea typeface="Aptos"/>
                <a:cs typeface="Aptos"/>
              </a:rPr>
              <a:t>POST-LOCK SECONDARY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85D88-33E9-4B2C-B31C-F2A606CA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14763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 /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808C8-960B-466C-ACA5-E222ABBC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47975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endpoint wins in both directions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F6BBA-969B-4B61-BFFE-EB732330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ToxCast → NTP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9E4EA-CE21-4F66-9E4C-EDD2F487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10.3–34.5%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D9962-D28F-4FFE-A039-2895E194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814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NTP → ToxCast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0373E-DDF9-4BBF-9027-DAF5F7D4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14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15.1–50.3%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EF6F5-7947-453E-A0CB-C22036A3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95800"/>
            <a:ext cx="419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B8C3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8C3C9"/>
                </a:solidFill>
                <a:latin typeface="Aptos"/>
                <a:ea typeface="Aptos"/>
                <a:cs typeface="Aptos"/>
              </a:rPr>
              <a:t>Held-out cohort shift; not external laboratory/device transfer.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CB359-4F76-49BC-B974-1AA2444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57400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356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18F2E-3DD1-45D7-A882-D5329EB6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0275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1  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0AD99-6C2D-4338-9CA9-2B5DCD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38425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471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178"/>
                </a:solidFill>
                <a:latin typeface="Aptos"/>
                <a:ea typeface="Aptos"/>
                <a:cs typeface="Aptos"/>
              </a:rPr>
              <a:t>Local endpoints +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651F3-B8C6-4C7B-A0C0-A1A974C1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57400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356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FDA1C-4912-47EC-86CC-0223605B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0275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2   RETRAIN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C5B35-5024-4F50-A6A2-BD30C529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38425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471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178"/>
                </a:solidFill>
                <a:latin typeface="Aptos"/>
                <a:ea typeface="Aptos"/>
                <a:cs typeface="Aptos"/>
              </a:rPr>
              <a:t>Local longitudinal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5CE62-F74F-4AEC-8BFC-99628C77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9ECC9-8FD7-42C2-B2A1-8BCEFB7F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24275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3   RECALIBRATE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93FD54-1B0C-487A-80EC-6B6DDFE2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62425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471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178"/>
                </a:solidFill>
                <a:latin typeface="Aptos"/>
                <a:ea typeface="Aptos"/>
                <a:cs typeface="Aptos"/>
              </a:rPr>
              <a:t>Intervals + drift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E3A452-5501-40F7-AD94-A00B8FCA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21FF9D-37A4-4EC2-AAC8-1CC87E1B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24275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4   VALIDATE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1299DA-364E-43A0-BCEB-A0A31A56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62425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471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178"/>
                </a:solidFill>
                <a:latin typeface="Aptos"/>
                <a:ea typeface="Aptos"/>
                <a:cs typeface="Aptos"/>
              </a:rPr>
              <a:t>Prospective human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22A5D9-2929-445E-A4CF-87A572DD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The frozen EPA model is not a deployable neural OoC model.</a:t>
            </a:r>
          </a:p>
        </p:txBody>
      </p:sp>
    </p:spTree>
    <p:extLst>
      <p:ext uri="{BB962C8B-B14F-4D97-AF65-F5344CB8AC3E}">
        <p14:creationId xmlns:p14="http://schemas.microsoft.com/office/powerpoint/2010/main" val="10930327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4D3D62C-7780-4C57-A9F8-8336226E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1330E10-7A2D-4553-B1DB-3CBA468E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REPRODUCE WITHOUT RETRAINING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01A92-52CE-47C8-BA71-5B7F2FF2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locked evidence rebuilds in minutes from committed predictions.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A9F90-D438-4B94-BE62-3BD1E0BA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8251B-EEB9-406E-A524-E677D9AE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5775A-1CBA-4420-A813-372ACB0A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0A37F-90A0-4684-9871-5BB3C708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095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9B20E-3254-47C5-B37F-C9A9D93E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 make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2B376-CE5C-4296-995F-16DD64D9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384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 make fetch-results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6AA27-20BF-4286-A658-3B43F74D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956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 make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4C0A8-3078-48F5-86B9-63FBE0F1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528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9B8A8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9B8A8"/>
                </a:solidFill>
                <a:latin typeface="Consolas"/>
                <a:ea typeface="Consolas"/>
                <a:cs typeface="Consolas"/>
              </a:rPr>
              <a:t>$ make reproduce-lite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7D3F6-2497-46BB-ADAD-15678484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00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 make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8661B-EBB2-42D7-ABD2-EC098B86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3905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NO AUTOMATIC RETRAINING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CD1D4-E860-4B15-8038-2DBD38B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05125"/>
            <a:ext cx="40957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6D0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D0D5"/>
                </a:solidFill>
                <a:latin typeface="Aptos"/>
                <a:ea typeface="Aptos"/>
                <a:cs typeface="Aptos"/>
              </a:rPr>
              <a:t>Saved predictions → tables → figures →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6D0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D0D5"/>
                </a:solidFill>
                <a:latin typeface="Aptos"/>
                <a:ea typeface="Aptos"/>
                <a:cs typeface="Aptos"/>
              </a:rPr>
              <a:t>Manifest hashes verify the evidence bundle.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6D0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D0D5"/>
                </a:solidFill>
                <a:latin typeface="Aptos"/>
                <a:ea typeface="Aptos"/>
                <a:cs typeface="Aptos"/>
              </a:rPr>
              <a:t>Full training requires an explicit locked-rebuild flag.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B9D84-93F7-4B58-A631-19133EB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Forecast when evidence is strong; continue the assay when it is not.</a:t>
            </a:r>
          </a:p>
        </p:txBody>
      </p:sp>
    </p:spTree>
    <p:extLst>
      <p:ext uri="{BB962C8B-B14F-4D97-AF65-F5344CB8AC3E}">
        <p14:creationId xmlns:p14="http://schemas.microsoft.com/office/powerpoint/2010/main" val="2130111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2026-09-29T11:49:17.6240000Z</dcterms:created>
  <dcterms:modified xsi:type="dcterms:W3CDTF">2026-09-29T11:49:17.6240000Z</dcterms:modified>
</coreProperties>
</file>