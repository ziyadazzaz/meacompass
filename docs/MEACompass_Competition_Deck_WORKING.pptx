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2847f5d9694de0" /><Relationship Type="http://schemas.openxmlformats.org/officeDocument/2006/relationships/extended-properties" Target="/docProps/app.xml" Id="Rc328f37792634a67" /><Relationship Type="http://schemas.openxmlformats.org/officeDocument/2006/relationships/officeDocument" Target="/ppt/presentation.xml" Id="R25597209eb364a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c56639b18f4f3e"/>
  </p:sldMasterIdLst>
  <p:notesMasterIdLst>
    <p:notesMasterId xmlns:r="http://schemas.openxmlformats.org/officeDocument/2006/relationships" r:id="Rccf6a55e61914aed"/>
  </p:notesMasterIdLst>
  <p:sldIdLst>
    <p:sldId xmlns:r="http://schemas.openxmlformats.org/officeDocument/2006/relationships" id="256" r:id="R0b69fb44b725426f"/>
    <p:sldId xmlns:r="http://schemas.openxmlformats.org/officeDocument/2006/relationships" id="257" r:id="R580c6355d2304e0d"/>
    <p:sldId xmlns:r="http://schemas.openxmlformats.org/officeDocument/2006/relationships" id="258" r:id="Re29aa1ce60cd4b9e"/>
    <p:sldId xmlns:r="http://schemas.openxmlformats.org/officeDocument/2006/relationships" id="259" r:id="Ra0d9b05d9c484c83"/>
    <p:sldId xmlns:r="http://schemas.openxmlformats.org/officeDocument/2006/relationships" id="260" r:id="R022d530202aa4bb2"/>
    <p:sldId xmlns:r="http://schemas.openxmlformats.org/officeDocument/2006/relationships" id="261" r:id="Rc12b877ffc214c6f"/>
    <p:sldId xmlns:r="http://schemas.openxmlformats.org/officeDocument/2006/relationships" id="262" r:id="R021beab6f2054e2c"/>
    <p:sldId xmlns:r="http://schemas.openxmlformats.org/officeDocument/2006/relationships" id="263" r:id="Rf013b8e00cb54ae7"/>
    <p:sldId xmlns:r="http://schemas.openxmlformats.org/officeDocument/2006/relationships" id="264" r:id="R70bf5f2687e94591"/>
    <p:sldId xmlns:r="http://schemas.openxmlformats.org/officeDocument/2006/relationships" id="265" r:id="Rc2d53566aa5e4ea0"/>
    <p:sldId xmlns:r="http://schemas.openxmlformats.org/officeDocument/2006/relationships" id="266" r:id="Rbb4dc3df67c349bd"/>
    <p:sldId xmlns:r="http://schemas.openxmlformats.org/officeDocument/2006/relationships" id="267" r:id="Radfa495f8b4d4f6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c56639b18f4f3e" /><Relationship Type="http://schemas.openxmlformats.org/officeDocument/2006/relationships/theme" Target="/ppt/theme/theme1.xml" Id="R9d2093b0c4a44c61" /><Relationship Type="http://schemas.openxmlformats.org/officeDocument/2006/relationships/notesMaster" Target="/ppt/notesMasters/notesMaster1.xml" Id="Rccf6a55e61914aed" /><Relationship Type="http://schemas.openxmlformats.org/officeDocument/2006/relationships/presProps" Target="/ppt/presProps.xml" Id="R879fa0f1d7c544a2" /><Relationship Type="http://schemas.openxmlformats.org/officeDocument/2006/relationships/viewProps" Target="/ppt/viewProps.xml" Id="R25a4206bac4a4bd3" /><Relationship Type="http://schemas.openxmlformats.org/officeDocument/2006/relationships/tableStyles" Target="/ppt/tableStyles.xml" Id="R17571ac969484223" /><Relationship Type="http://schemas.openxmlformats.org/officeDocument/2006/relationships/slide" Target="/ppt/slides/slide1.xml" Id="R0b69fb44b725426f" /><Relationship Type="http://schemas.openxmlformats.org/officeDocument/2006/relationships/slide" Target="/ppt/slides/slide2.xml" Id="R580c6355d2304e0d" /><Relationship Type="http://schemas.openxmlformats.org/officeDocument/2006/relationships/slide" Target="/ppt/slides/slide3.xml" Id="Re29aa1ce60cd4b9e" /><Relationship Type="http://schemas.openxmlformats.org/officeDocument/2006/relationships/slide" Target="/ppt/slides/slide4.xml" Id="Ra0d9b05d9c484c83" /><Relationship Type="http://schemas.openxmlformats.org/officeDocument/2006/relationships/slide" Target="/ppt/slides/slide5.xml" Id="R022d530202aa4bb2" /><Relationship Type="http://schemas.openxmlformats.org/officeDocument/2006/relationships/slide" Target="/ppt/slides/slide6.xml" Id="Rc12b877ffc214c6f" /><Relationship Type="http://schemas.openxmlformats.org/officeDocument/2006/relationships/slide" Target="/ppt/slides/slide7.xml" Id="R021beab6f2054e2c" /><Relationship Type="http://schemas.openxmlformats.org/officeDocument/2006/relationships/slide" Target="/ppt/slides/slide8.xml" Id="Rf013b8e00cb54ae7" /><Relationship Type="http://schemas.openxmlformats.org/officeDocument/2006/relationships/slide" Target="/ppt/slides/slide9.xml" Id="R70bf5f2687e94591" /><Relationship Type="http://schemas.openxmlformats.org/officeDocument/2006/relationships/slide" Target="/ppt/slides/slide10.xml" Id="Rc2d53566aa5e4ea0" /><Relationship Type="http://schemas.openxmlformats.org/officeDocument/2006/relationships/slide" Target="/ppt/slides/slide11.xml" Id="Rbb4dc3df67c349bd" /><Relationship Type="http://schemas.openxmlformats.org/officeDocument/2006/relationships/slide" Target="/ppt/slides/slide12.xml" Id="Radfa495f8b4d4f6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0634a9e21e645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88a0725af54a0c" /><Relationship Type="http://schemas.openxmlformats.org/officeDocument/2006/relationships/notesMaster" Target="/ppt/notesMasters/notesMaster1.xml" Id="R34bf81d1f29343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85f28c99604de4" /><Relationship Type="http://schemas.openxmlformats.org/officeDocument/2006/relationships/notesMaster" Target="/ppt/notesMasters/notesMaster1.xml" Id="R7b00f14c67da43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a1dc076e434b8e" /><Relationship Type="http://schemas.openxmlformats.org/officeDocument/2006/relationships/notesMaster" Target="/ppt/notesMasters/notesMaster1.xml" Id="Rb86269e1b6de4d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08831d9080849ef" /><Relationship Type="http://schemas.openxmlformats.org/officeDocument/2006/relationships/notesMaster" Target="/ppt/notesMasters/notesMaster1.xml" Id="R4d6b86dd4ead42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740c3b5026941b3" /><Relationship Type="http://schemas.openxmlformats.org/officeDocument/2006/relationships/notesMaster" Target="/ppt/notesMasters/notesMaster1.xml" Id="Rdfad62b2567a4f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574c73e5394a47" /><Relationship Type="http://schemas.openxmlformats.org/officeDocument/2006/relationships/notesMaster" Target="/ppt/notesMasters/notesMaster1.xml" Id="R853388cc969e405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739ff2fa5f245f5" /><Relationship Type="http://schemas.openxmlformats.org/officeDocument/2006/relationships/notesMaster" Target="/ppt/notesMasters/notesMaster1.xml" Id="Rc96e203024924db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d3e531e43b94b2e" /><Relationship Type="http://schemas.openxmlformats.org/officeDocument/2006/relationships/notesMaster" Target="/ppt/notesMasters/notesMaster1.xml" Id="Rc66e479eb22a4bc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60d38dc475d45e8" /><Relationship Type="http://schemas.openxmlformats.org/officeDocument/2006/relationships/notesMaster" Target="/ppt/notesMasters/notesMaster1.xml" Id="Rd4410f6028cb42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76afed3087741c2" /><Relationship Type="http://schemas.openxmlformats.org/officeDocument/2006/relationships/notesMaster" Target="/ppt/notesMasters/notesMaster1.xml" Id="Re1772ff0820c42b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ab9b04e87994756" /><Relationship Type="http://schemas.openxmlformats.org/officeDocument/2006/relationships/notesMaster" Target="/ppt/notesMasters/notesMaster1.xml" Id="Re9a225b1844042c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c7b2821dc5a4fda" /><Relationship Type="http://schemas.openxmlformats.org/officeDocument/2006/relationships/notesMaster" Target="/ppt/notesMasters/notesMaster1.xml" Id="Rc3f958fa18484e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e89297a73744e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02393aaa8fa43b2" /><Relationship Type="http://schemas.openxmlformats.org/officeDocument/2006/relationships/slideLayout" Target="/ppt/slideLayouts/slideLayout2.xml" Id="Rbb5dfde6686d41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5dfde6686d41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659fe5af9f4c4e" /><Relationship Type="http://schemas.openxmlformats.org/officeDocument/2006/relationships/notesSlide" Target="/ppt/notesSlides/notesSlide1.xml" Id="R544f6a9dcd6441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48c4fda11d405d" /><Relationship Type="http://schemas.openxmlformats.org/officeDocument/2006/relationships/notesSlide" Target="/ppt/notesSlides/notesSlide2.xml" Id="R228c10343b624c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544a9226ac4cab" /><Relationship Type="http://schemas.openxmlformats.org/officeDocument/2006/relationships/notesSlide" Target="/ppt/notesSlides/notesSlide3.xml" Id="Rba69509d3e5a41e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2566066a464749" /><Relationship Type="http://schemas.openxmlformats.org/officeDocument/2006/relationships/notesSlide" Target="/ppt/notesSlides/notesSlide4.xml" Id="R973e0ccb7cad48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3bd97046dd4990" /><Relationship Type="http://schemas.openxmlformats.org/officeDocument/2006/relationships/notesSlide" Target="/ppt/notesSlides/notesSlide5.xml" Id="R5a20085df5e449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1c87e465594a77" /><Relationship Type="http://schemas.openxmlformats.org/officeDocument/2006/relationships/notesSlide" Target="/ppt/notesSlides/notesSlide6.xml" Id="R84b2e50764ad4a7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36f9f450004814" /><Relationship Type="http://schemas.openxmlformats.org/officeDocument/2006/relationships/notesSlide" Target="/ppt/notesSlides/notesSlide7.xml" Id="R8d833d37cf924d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40d05d28b240f8" /><Relationship Type="http://schemas.openxmlformats.org/officeDocument/2006/relationships/notesSlide" Target="/ppt/notesSlides/notesSlide8.xml" Id="R9bfa3c63d5354b2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8a99d2ec934d57" /><Relationship Type="http://schemas.openxmlformats.org/officeDocument/2006/relationships/notesSlide" Target="/ppt/notesSlides/notesSlide9.xml" Id="R0bf38f6305d54b0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b6a11ae5924079" /><Relationship Type="http://schemas.openxmlformats.org/officeDocument/2006/relationships/notesSlide" Target="/ppt/notesSlides/notesSlide10.xml" Id="R362ce310941d401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e6158785024036" /><Relationship Type="http://schemas.openxmlformats.org/officeDocument/2006/relationships/notesSlide" Target="/ppt/notesSlides/notesSlide11.xml" Id="R0f7c8017bb22446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7d93bab53845fe" /><Relationship Type="http://schemas.openxmlformats.org/officeDocument/2006/relationships/notesSlide" Target="/ppt/notesSlides/notesSlide12.xml" Id="R1af1851d51ea4f3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0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84025B0-2406-4436-948C-07A044BA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F58A607-2200-4E59-BC87-572C0402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95275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MEACOMPASS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72ED2F-AE50-47C7-A9B9-4DAD0D59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1010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4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Reliability-Aware Early Prediction of Neural Network Development from Microelectrode-Array Assays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4CA94-BE09-4983-A45C-05064154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57325"/>
            <a:ext cx="10668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B8C3C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8C3C9"/>
                </a:solidFill>
                <a:latin typeface="Aptos"/>
                <a:ea typeface="Aptos"/>
                <a:cs typeface="Aptos"/>
              </a:rPr>
              <a:t>Toward Functional Digital Twins for Neural Organ-on-Chip Screening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8F2B70-1CDB-4F00-8538-6C491F18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43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B87D2E-E444-4006-AD34-DA1330714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72250"/>
            <a:ext cx="4762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0" b="0">
                <a:solidFill>
                  <a:srgbClr val="8B979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8B979F"/>
                </a:solidFill>
                <a:latin typeface="Aptos"/>
                <a:ea typeface="Aptos"/>
                <a:cs typeface="Aptos"/>
              </a:rPr>
              <a:t>MEACompass  |  locked retrospective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0D93D1-E0EE-42B1-A535-766179C8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72250"/>
            <a:ext cx="3619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0" b="0">
                <a:solidFill>
                  <a:srgbClr val="8B979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8B979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AA02A1-B82B-4080-9CAF-8802FE50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8763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useful endpoint arrives at DIV12. Triage should not wait blindly.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2076C8-7D39-4E29-BEF5-C476E1C50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581400"/>
            <a:ext cx="1857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2EF137-D6F7-4D2E-AEBD-798F37AC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76600"/>
            <a:ext cx="838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3E1FB5-B492-4BD1-8A3B-D6E9EAB2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457575"/>
            <a:ext cx="838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DIV5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4CD673-C561-4898-8BA0-6D975013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81400"/>
            <a:ext cx="1857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D7132B-2610-454D-909C-7311B492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276600"/>
            <a:ext cx="838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B7BC88-C0E9-4354-934E-50867E0DA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57575"/>
            <a:ext cx="838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DIV7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897C00-B42D-4182-B7CC-D4FB6F03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581400"/>
            <a:ext cx="1857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F9B804-8152-4912-8E68-B1A0C854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76600"/>
            <a:ext cx="1562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3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A3819C-990D-4BD8-9E4D-6DB8019F7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57575"/>
            <a:ext cx="1562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FORECAST / WAIT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180F7E-7EF4-4283-83A3-123DF977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276600"/>
            <a:ext cx="838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936016-6E8C-44BF-8713-2C9BD97E8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57575"/>
            <a:ext cx="838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DIV12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19B3E2-F734-46F5-9A78-B91F416F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171950"/>
            <a:ext cx="2095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700" b="1">
                <a:solidFill>
                  <a:srgbClr val="49B8A8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49B8A8"/>
                </a:solidFill>
                <a:latin typeface="Georgia"/>
                <a:ea typeface="Georgia"/>
                <a:cs typeface="Georgia"/>
              </a:rPr>
              <a:t>5 days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5C09DE-26B1-4399-8CC4-BE7D0DA3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62500"/>
            <a:ext cx="7429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DIV7 forecasts are available five days before the DIV12 endpoint for accepted cases.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834BFC-3759-44C3-9073-2F52FC88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29250"/>
            <a:ext cx="5905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>
                <a:solidFill>
                  <a:srgbClr val="B8C3C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8C3C9"/>
                </a:solidFill>
                <a:latin typeface="Aptos"/>
                <a:ea typeface="Aptos"/>
                <a:cs typeface="Aptos"/>
              </a:rPr>
              <a:t>136 chemicals  •  4,192 complete longitudinal trajectories</a:t>
            </a:r>
          </a:p>
        </p:txBody>
      </p:sp>
    </p:spTree>
    <p:extLst>
      <p:ext uri="{BB962C8B-B14F-4D97-AF65-F5344CB8AC3E}">
        <p14:creationId xmlns:p14="http://schemas.microsoft.com/office/powerpoint/2010/main" val="17942672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DBE1055A-EC4C-4899-8B3C-54FEBAB87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90A3907-2769-418D-A1E7-F0BD680F3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95275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356E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6EE6"/>
                </a:solidFill>
                <a:latin typeface="Aptos"/>
                <a:ea typeface="Aptos"/>
                <a:cs typeface="Aptos"/>
              </a:rPr>
              <a:t>THE CONCEPT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B6B5CE-A0A8-4C3D-97A0-5FA0AB1A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1010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47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MEACompass forecasts—and knows when not to.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82F0F3-007E-47A1-9C01-67439F42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57325"/>
            <a:ext cx="10668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F7B8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F7B82"/>
                </a:solidFill>
                <a:latin typeface="Aptos"/>
                <a:ea typeface="Aptos"/>
                <a:cs typeface="Aptos"/>
              </a:rPr>
              <a:t>Evidence, uncertainty, and human review are part of one workflow.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8AA731-479B-4126-AC1A-21C7B64E5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8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79AAED-CD7A-4D2C-BBBF-64D4BE99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72250"/>
            <a:ext cx="4762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0" b="0">
                <a:solidFill>
                  <a:srgbClr val="7E858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7E858A"/>
                </a:solidFill>
                <a:latin typeface="Aptos"/>
                <a:ea typeface="Aptos"/>
                <a:cs typeface="Aptos"/>
              </a:rPr>
              <a:t>MEACompass  |  locked retrospective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E928DD-4FA3-4A2D-B23B-9D1C3640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72250"/>
            <a:ext cx="3619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0" b="0">
                <a:solidFill>
                  <a:srgbClr val="7E858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7E858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CD8286-4164-4383-A50A-006573C6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81400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E0FCE2-7C1D-4B56-8F71-24830A0B2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23622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356E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5AB14C-7166-4FB3-95E7-A7BAE319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480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656044-3050-4518-B36D-113EA9E9F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219450"/>
            <a:ext cx="20193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356E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6EE6"/>
                </a:solidFill>
                <a:latin typeface="Aptos"/>
                <a:ea typeface="Aptos"/>
                <a:cs typeface="Aptos"/>
              </a:rPr>
              <a:t>OBSERVED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FCAA08-529B-42BE-806B-477AC8431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609975"/>
            <a:ext cx="2019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DIV5 + DIV7 physiology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60D1BA-F98E-42A8-A417-98E6B377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581400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E895AB-5A79-42AE-AED2-C68358955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819400"/>
            <a:ext cx="23622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49B8A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5BAB95-9340-4A07-8CBF-CC0DF516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480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3C41CA-980B-4BA9-A43D-7B933483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219450"/>
            <a:ext cx="20193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PREDICTED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CC76D0-0EBF-4BC1-8778-4D0C3F7DB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609975"/>
            <a:ext cx="2019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DIV12 value + 90% interval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87BBB3-EF80-403A-8785-3F4104D2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581400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1F0420-241E-4ACC-9CA8-8ADDF28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19400"/>
            <a:ext cx="23622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A43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6C0D0D-8C93-4CF4-A7E5-4951FA226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480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3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9A0BAC-E2E9-4CAF-95C7-F8685765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219450"/>
            <a:ext cx="20193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D9A43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D9A431"/>
                </a:solidFill>
                <a:latin typeface="Aptos"/>
                <a:ea typeface="Aptos"/>
                <a:cs typeface="Aptos"/>
              </a:rPr>
              <a:t>DECISION SUPPORT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41C18D-621E-426F-B6A7-C1466123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609975"/>
            <a:ext cx="2019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accept or abstain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9304CE-570A-41BD-BF3C-4E4F3791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23622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EF715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18AA19-907E-4174-BDBD-89458041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0480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1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145E95-E32E-42F6-8E35-6DB5D4A0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219450"/>
            <a:ext cx="20193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F715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715E"/>
                </a:solidFill>
                <a:latin typeface="Aptos"/>
                <a:ea typeface="Aptos"/>
                <a:cs typeface="Aptos"/>
              </a:rPr>
              <a:t>HYPOTHESIS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5CA181-F345-4DC7-AAB7-7DD38CC4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609975"/>
            <a:ext cx="2019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future neural OoC adaptation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5E81D5-C3C3-44D3-9478-6B5A898E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48250"/>
            <a:ext cx="8763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Uncertain cases continue to DIV12. MEACompass never terminates an assay autonomously.</a:t>
            </a:r>
          </a:p>
        </p:txBody>
      </p:sp>
    </p:spTree>
    <p:extLst>
      <p:ext uri="{BB962C8B-B14F-4D97-AF65-F5344CB8AC3E}">
        <p14:creationId xmlns:p14="http://schemas.microsoft.com/office/powerpoint/2010/main" val="16430167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39C9E52-0A93-4EDE-904E-1019D8A7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9473798-C931-43B9-832A-C0446D38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95275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356E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6EE6"/>
                </a:solidFill>
                <a:latin typeface="Aptos"/>
                <a:ea typeface="Aptos"/>
                <a:cs typeface="Aptos"/>
              </a:rPr>
              <a:t>SCIENTIFIC BOUNDARY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76CD98-EF94-4F8F-94B2-A5762D2B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1010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47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A credible forecast begins with an honest boundary.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D4E399-2346-4978-9C28-558E1894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8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D61647-7A4F-47E0-BB84-3969CE3FC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72250"/>
            <a:ext cx="4762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0" b="0">
                <a:solidFill>
                  <a:srgbClr val="7E858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7E858A"/>
                </a:solidFill>
                <a:latin typeface="Aptos"/>
                <a:ea typeface="Aptos"/>
                <a:cs typeface="Aptos"/>
              </a:rPr>
              <a:t>MEACompass  |  locked retrospective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E080C8-0E41-426B-96E9-D3569766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72250"/>
            <a:ext cx="3619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0" b="0">
                <a:solidFill>
                  <a:srgbClr val="7E858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7E858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799448-61B2-4BC5-AEBA-C3FEA37E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49B8A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CE6B10-C822-4CBE-9950-9D5A8F22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9825"/>
            <a:ext cx="4419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WHAT THIS 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ABF1AA-F547-4C18-B61E-E1E4CAF1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09875"/>
            <a:ext cx="4419600" cy="163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Retrospective rat cortical neural microelectrode-array research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Chemical-disjoint DIV12 prediction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Calibrated research decision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B9EB20-4C37-4678-9826-84FA0958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4790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EF715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F4BF45-A6E5-4F1C-BED9-830A5C9FD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409825"/>
            <a:ext cx="4419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WHAT THIS IS NOT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2A50AA-C854-4CE5-95C9-DF21AD976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809875"/>
            <a:ext cx="4419600" cy="163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Not organ-on-chip training 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Not human or external-device validation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Not an autonomous assay-termination system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E56CCE-320D-4929-8C41-9F9E9ED68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91125"/>
            <a:ext cx="933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Human neural OoC transfer remains a hypothesis until a frozen prospective study validates it.</a:t>
            </a:r>
          </a:p>
        </p:txBody>
      </p:sp>
    </p:spTree>
    <p:extLst>
      <p:ext uri="{BB962C8B-B14F-4D97-AF65-F5344CB8AC3E}">
        <p14:creationId xmlns:p14="http://schemas.microsoft.com/office/powerpoint/2010/main" val="18908610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0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C3E4E7B-6C07-4FCF-9215-3BDE22D8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CAE88A90-B2B9-45F8-B30D-AF5F3220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95275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EVALUATION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1F5BE5-2FFC-4B67-8A82-5D8B4213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1010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4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split follows the chemical—not the convenient row.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A6E6FB-C6AA-43AD-A016-F46BEFF5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57325"/>
            <a:ext cx="10668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B8C3C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8C3C9"/>
                </a:solidFill>
                <a:latin typeface="Aptos"/>
                <a:ea typeface="Aptos"/>
                <a:cs typeface="Aptos"/>
              </a:rPr>
              <a:t>Every dose, alias, replicate, and well for one chemical stays together.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E81566-D1AE-4DE5-AB14-517FA1D3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43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3AF09E-09BA-4E9C-B893-60B4D3B6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72250"/>
            <a:ext cx="4762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0" b="0">
                <a:solidFill>
                  <a:srgbClr val="8B979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8B979F"/>
                </a:solidFill>
                <a:latin typeface="Aptos"/>
                <a:ea typeface="Aptos"/>
                <a:cs typeface="Aptos"/>
              </a:rPr>
              <a:t>MEACompass  |  locked retrospective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1D6DD-CDBA-4390-AA8A-6AF74C0A7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72250"/>
            <a:ext cx="3619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0" b="0">
                <a:solidFill>
                  <a:srgbClr val="8B979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8B979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55D521-9BFE-4542-BCFC-ABEB4041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2667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9525">
            <a:solidFill>
              <a:srgbClr val="49B8A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2F804A-2397-4CBF-BB15-CB315C2B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552700"/>
            <a:ext cx="23241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136 CHEMICALS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D4B4A9-89EB-4B78-B3F7-C664166D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952750"/>
            <a:ext cx="232410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Canonical CAS groups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4,200 complete trajectories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658213-CDBA-4EC3-A4A9-066059B6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38500"/>
            <a:ext cx="1381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8920FA-A30C-4B2C-AEA9-AF003052D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09800"/>
            <a:ext cx="2667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9525">
            <a:solidFill>
              <a:srgbClr val="356E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99665C-7CDA-4DBD-9EEB-21439C50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362200"/>
            <a:ext cx="23241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3 × 5 OUTER FOLDS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7BEB52-419C-4642-B5F7-7A885DB29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762250"/>
            <a:ext cx="2324100" cy="1352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Held-out chemicals only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Inner validation selects baselines and settings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853F79-AFE0-4F40-8565-B9004231C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238500"/>
            <a:ext cx="1381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8B7482-4641-4A45-961F-51CD7535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400300"/>
            <a:ext cx="2667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9525">
            <a:solidFill>
              <a:srgbClr val="D9A43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4CF577-3E9D-4451-9BBF-781223CD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552700"/>
            <a:ext cx="23241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CHEMICAL BOOTSTRAP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B91EFA-949A-4F3B-8D2E-CD5B52D97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952750"/>
            <a:ext cx="232410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Paired uncertainty at the true generalization unit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A0EACA-9A99-4CFA-B492-EB7E7D03D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000625"/>
            <a:ext cx="4476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Outer-test labels evaluate. They never select.</a:t>
            </a:r>
          </a:p>
        </p:txBody>
      </p:sp>
    </p:spTree>
    <p:extLst>
      <p:ext uri="{BB962C8B-B14F-4D97-AF65-F5344CB8AC3E}">
        <p14:creationId xmlns:p14="http://schemas.microsoft.com/office/powerpoint/2010/main" val="20153512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DFC53BA-5AAB-4223-9026-866698816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383A957C-2972-4E3D-A1CE-A003CFFE5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95275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356E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6EE6"/>
                </a:solidFill>
                <a:latin typeface="Aptos"/>
                <a:ea typeface="Aptos"/>
                <a:cs typeface="Aptos"/>
              </a:rPr>
              <a:t>LOCKED PRIMARY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F54BD8-CA05-410A-9A53-0F2E90BF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1010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47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Frozen M1 improves all five endpoints against the fair comparator.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4FB42F-5FFD-481B-A605-83F4C177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57325"/>
            <a:ext cx="10668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F7B8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F7B82"/>
                </a:solidFill>
                <a:latin typeface="Aptos"/>
                <a:ea typeface="Aptos"/>
                <a:cs typeface="Aptos"/>
              </a:rPr>
              <a:t>MAE gain versus inner-selected BT+; every paired chemical-bootstrap interval excludes zero.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EBFEAC-1CF3-46DC-AE20-2CDF67AC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8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CFCB55-9E8B-4018-92BD-7AD601B0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72250"/>
            <a:ext cx="4762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0" b="0">
                <a:solidFill>
                  <a:srgbClr val="7E858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7E858A"/>
                </a:solidFill>
                <a:latin typeface="Aptos"/>
                <a:ea typeface="Aptos"/>
                <a:cs typeface="Aptos"/>
              </a:rPr>
              <a:t>MEACompass  |  locked retrospective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61C564-BA2B-41B6-8334-F67DEEBDB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72250"/>
            <a:ext cx="3619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0" b="0">
                <a:solidFill>
                  <a:srgbClr val="7E858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7E858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800195-04EF-4AC8-97E3-7ADD793A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1619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Firing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5E8E24-A1F4-4954-896C-EFEBF3F0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171700"/>
            <a:ext cx="5238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8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09089C-32CC-41E4-AA03-BA3F8010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171700"/>
            <a:ext cx="1771196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A9B373-5BEF-4758-9E63-4345B073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14550"/>
            <a:ext cx="571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14.2%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6E007D-1D05-4CD3-87F7-D83A6A60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1619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Bursts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DF742B-C112-4811-A9EC-821F6492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705100"/>
            <a:ext cx="5238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8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218D4E-D99D-4839-ACB9-B29A06F7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705100"/>
            <a:ext cx="2120446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1138D0-ECDA-45D6-B074-D150920D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667000"/>
            <a:ext cx="571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17.0%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4DDB08-87B9-4FD1-AE63-4F40F2D6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0"/>
            <a:ext cx="1619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Active electrodes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262A50-9F43-463F-BAA1-37449798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76600"/>
            <a:ext cx="5238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8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6EF9C4-44E3-4D85-B5C7-00874C90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76600"/>
            <a:ext cx="4864554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0A7029-723E-4200-B61C-4B28992C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19450"/>
            <a:ext cx="571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39.0%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1F8FE1-CE3B-4EE6-921D-6E97ADD56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90950"/>
            <a:ext cx="1619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Network spikes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C863C7-498E-48B3-A949-8C3F13EF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810000"/>
            <a:ext cx="5238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8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5AD368-ED43-4713-A05D-C94D821D0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810000"/>
            <a:ext cx="1945821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6155CD-8FBA-486D-BEFA-93C6AB1C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771900"/>
            <a:ext cx="571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15.6%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9E2061-0222-4983-978C-0438F722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43400"/>
            <a:ext cx="1619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Coordinated activity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6CAFE3-0F9C-4D9C-874C-82E29732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381500"/>
            <a:ext cx="5238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8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CFA1B5-E2AE-4457-9D5F-F556513B2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381500"/>
            <a:ext cx="283142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1121C4-8763-4F2E-8B72-BDD59A67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24350"/>
            <a:ext cx="571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22.7%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F284B6-D137-4A32-8894-CE6D4E8C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19300"/>
            <a:ext cx="2667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AFC82D-DE3F-48B8-838A-A20B7672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38375"/>
            <a:ext cx="2190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D9A43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A431"/>
                </a:solidFill>
                <a:latin typeface="Aptos"/>
                <a:ea typeface="Aptos"/>
                <a:cs typeface="Aptos"/>
              </a:rPr>
              <a:t>BT++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2FF683-752B-4D32-B07F-F12EE73BF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47950"/>
            <a:ext cx="21907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32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12.3–42.9%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99E18A-760F-40BF-AB25-97E68A2F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86125"/>
            <a:ext cx="21336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C6D0D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6D0D5"/>
                </a:solidFill>
                <a:latin typeface="Aptos"/>
                <a:ea typeface="Aptos"/>
                <a:cs typeface="Aptos"/>
              </a:rPr>
              <a:t>gain versus the stricter post-audit comparator; significant on all five endpoints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AB641DE-3358-4DF7-8EB5-3C19FE23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152900"/>
            <a:ext cx="952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C9A04A-DC07-44FB-A48C-BBAEA337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267200"/>
            <a:ext cx="2095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DIV7 contribution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56.9–77.3%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958B8D-E9E8-45A8-9E79-754B5703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619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67747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7747B"/>
                </a:solidFill>
                <a:latin typeface="Aptos"/>
                <a:ea typeface="Aptos"/>
                <a:cs typeface="Aptos"/>
              </a:rPr>
              <a:t>Chemistry 11.2–31.8% • association, not mechanism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E8775B-EBF6-4079-8DA6-BC973586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238750"/>
            <a:ext cx="4095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>
                <a:solidFill>
                  <a:srgbClr val="EF715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F715E"/>
                </a:solidFill>
                <a:latin typeface="Aptos"/>
                <a:ea typeface="Aptos"/>
                <a:cs typeface="Aptos"/>
              </a:rPr>
              <a:t>Failure case disclosed: tributyltin chloride</a:t>
            </a:r>
          </a:p>
        </p:txBody>
      </p:sp>
    </p:spTree>
    <p:extLst>
      <p:ext uri="{BB962C8B-B14F-4D97-AF65-F5344CB8AC3E}">
        <p14:creationId xmlns:p14="http://schemas.microsoft.com/office/powerpoint/2010/main" val="6801119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0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CFEFFBD-76F2-4A35-889B-9000BC46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E4B6FD1C-71ED-4677-B1FA-84205797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95275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INTEGRITY BEFORE MOMENTUM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F66F80-89F7-4606-812B-65224B30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1010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4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negative control stopped us—then the audit earned conditional continuation.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FFE1B3-647C-4AD4-B935-ED0C805C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43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9A01E9-F9FF-4E2C-98E0-31113AEEE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72250"/>
            <a:ext cx="4762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0" b="0">
                <a:solidFill>
                  <a:srgbClr val="8B979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8B979F"/>
                </a:solidFill>
                <a:latin typeface="Aptos"/>
                <a:ea typeface="Aptos"/>
                <a:cs typeface="Aptos"/>
              </a:rPr>
              <a:t>MEACompass  |  locked retrospective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F0FF88-4199-4FB8-A630-32187941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72250"/>
            <a:ext cx="3619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0" b="0">
                <a:solidFill>
                  <a:srgbClr val="8B979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8B979F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1BD527-C4A6-4AB0-A802-FDCCEC04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524125" cy="1857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9525">
            <a:solidFill>
              <a:srgbClr val="EF715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413BA5-8BE1-4280-9D0C-EBB5AD61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1812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REGISTERED STOP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E0CB15-B468-426D-B0FE-E5C2BA4C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2181225" cy="1114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Chemical-block permutation showed a small bursts gain.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072A94-836C-4E0C-9868-D43CF56B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90900"/>
            <a:ext cx="161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1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9586F4-84F4-4432-8D20-A5D3F1BC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247900"/>
            <a:ext cx="28575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9525">
            <a:solidFill>
              <a:srgbClr val="D9A43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FAAE10-7BA0-410C-88C9-5F2199539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409825"/>
            <a:ext cx="2514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BOUNDED AUDIT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CC42D7-501F-474C-8B35-4D396E79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809875"/>
            <a:ext cx="2514600" cy="1590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No future-derived feature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Clean full-target shuffle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No alignment defect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Real M1 beat all 20 block-null runs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D6B5BD-250E-4677-B1C0-C9CA6F5B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390900"/>
            <a:ext cx="161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3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AA2024-25E6-4826-9097-21BE20E59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76500"/>
            <a:ext cx="2238375" cy="1857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9525">
            <a:solidFill>
              <a:srgbClr val="49B8A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87195E-4B22-4AD4-A053-8B5D0971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2647950"/>
            <a:ext cx="18954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CONDITIONAL PASS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7EF978-3A01-45A7-A3A6-DCB7FDDA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048000"/>
            <a:ext cx="1895475" cy="1114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Failure remains visible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BT++ added as safeguard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5866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8666D"/>
                </a:solidFill>
                <a:latin typeface="Aptos"/>
                <a:ea typeface="Aptos"/>
                <a:cs typeface="Aptos"/>
              </a:rPr>
              <a:t>Locked claims unchanged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7649FD-F240-41B5-848D-47EEEF39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5286375"/>
            <a:ext cx="7334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audit resolved a mechanism question. It did not erase the original stop.</a:t>
            </a:r>
          </a:p>
        </p:txBody>
      </p:sp>
    </p:spTree>
    <p:extLst>
      <p:ext uri="{BB962C8B-B14F-4D97-AF65-F5344CB8AC3E}">
        <p14:creationId xmlns:p14="http://schemas.microsoft.com/office/powerpoint/2010/main" val="11227807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879D66A-C219-4501-A5C8-BE7C84E9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3F801202-360D-4BBF-8CF0-6B8FF1E5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95275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356E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6EE6"/>
                </a:solidFill>
                <a:latin typeface="Aptos"/>
                <a:ea typeface="Aptos"/>
                <a:cs typeface="Aptos"/>
              </a:rPr>
              <a:t>CALIBRATED UNCERTAINTY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73993F-72D7-4F01-A7E6-A7D801198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1010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47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Nominal 90% intervals cover 91.0–92.4% in held-out chemicals.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ECB12F-7D71-44F1-89A6-FFA42652D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8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6B4003-9DF1-4370-BF1B-719311551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72250"/>
            <a:ext cx="4762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0" b="0">
                <a:solidFill>
                  <a:srgbClr val="7E858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7E858A"/>
                </a:solidFill>
                <a:latin typeface="Aptos"/>
                <a:ea typeface="Aptos"/>
                <a:cs typeface="Aptos"/>
              </a:rPr>
              <a:t>MEACompass  |  locked retrospective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FBF279-A310-4B44-B52C-20B8FAF4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72250"/>
            <a:ext cx="3619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0" b="0">
                <a:solidFill>
                  <a:srgbClr val="7E858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7E858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7DC4F1-4DC3-4786-8BA8-BDC63D61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9090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8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622651-7E1A-4DD7-B337-040E65D13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00400"/>
            <a:ext cx="285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1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C0FE12-3832-4082-89B2-4F85B55F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86075"/>
            <a:ext cx="10477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EF715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F715E"/>
                </a:solidFill>
                <a:latin typeface="Aptos"/>
                <a:ea typeface="Aptos"/>
                <a:cs typeface="Aptos"/>
              </a:rPr>
              <a:t>90% nominal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40A7B5-2163-42A4-9D81-54800BA0E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76600"/>
            <a:ext cx="38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C15596-1560-4D1E-8D72-DE565F0C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276600"/>
            <a:ext cx="38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EE56FC-C5BA-4A26-B03C-2F16926E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276600"/>
            <a:ext cx="38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CB9D37-579B-446B-B112-36130616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276600"/>
            <a:ext cx="38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E33097-94DA-48E7-8684-A8905D03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76600"/>
            <a:ext cx="38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3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9FA901-B912-4E2E-9E74-E97B1747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26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D37762-58E8-432C-A468-64E3BCD9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181475"/>
            <a:ext cx="128587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Bursts 91.08%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1BF622-57BD-4EB7-B802-CE953E860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26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5A749A-8E6A-41AF-A812-4A655EB3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81475"/>
            <a:ext cx="128587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Firing 91.53%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159D2E-1AF0-4625-9A7F-FA7002E0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26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EA3A2C-9BD5-4235-8E19-EAFDFFC8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4181475"/>
            <a:ext cx="128587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Active 92.13%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5375B2-7008-472B-BE28-2832B2D1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26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DF33ED-A708-43D0-96A1-606F815CA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81475"/>
            <a:ext cx="128587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Spikes 91.03%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18F22D-FBB6-4C7E-B7C8-B3984B1D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6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3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C3C533-76C4-40C8-BC37-A170C010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4181475"/>
            <a:ext cx="128587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r 92.40%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35AF1B-734E-4833-A623-4A2A52EB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238750"/>
            <a:ext cx="8667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Nested group CV+ • calibration uses training chemicals only • intervals travel with every forecast</a:t>
            </a:r>
          </a:p>
        </p:txBody>
      </p:sp>
    </p:spTree>
    <p:extLst>
      <p:ext uri="{BB962C8B-B14F-4D97-AF65-F5344CB8AC3E}">
        <p14:creationId xmlns:p14="http://schemas.microsoft.com/office/powerpoint/2010/main" val="45747837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724E11D-05A3-4D49-AAA7-C0B9DE68B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C31DB25-8623-4FC0-AE2C-A22D13F8C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95275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356E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6EE6"/>
                </a:solidFill>
                <a:latin typeface="Aptos"/>
                <a:ea typeface="Aptos"/>
                <a:cs typeface="Aptos"/>
              </a:rPr>
              <a:t>SELECTIVE PREDICTION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2BB40E-3C9E-410D-BE0E-E3258052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1010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47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Abstention clears the risk threshold on three endpoints—not five.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DA2661-4F86-4913-A00A-C09342EB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57325"/>
            <a:ext cx="10668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F7B8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F7B82"/>
                </a:solidFill>
                <a:latin typeface="Aptos"/>
                <a:ea typeface="Aptos"/>
                <a:cs typeface="Aptos"/>
              </a:rPr>
              <a:t>Accepted-case MAE reduction at 70% retained coverage; registered threshold = 15%.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64D85F-6FFA-4AB7-A5D5-F55D9653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8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49C819-138F-403B-A0A6-27443E33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72250"/>
            <a:ext cx="4762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0" b="0">
                <a:solidFill>
                  <a:srgbClr val="7E858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7E858A"/>
                </a:solidFill>
                <a:latin typeface="Aptos"/>
                <a:ea typeface="Aptos"/>
                <a:cs typeface="Aptos"/>
              </a:rPr>
              <a:t>MEACompass  |  locked retrospective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842C29-017C-4C25-802A-27C70F94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72250"/>
            <a:ext cx="3619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0" b="0">
                <a:solidFill>
                  <a:srgbClr val="7E858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7E858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1F06D3-2F41-47C2-A301-4F000F9FA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Firing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1E5667-0F59-47F2-8A65-D713C47F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33600"/>
            <a:ext cx="6381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8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5C16E0-5DDA-4F62-948C-D556BE3F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33600"/>
            <a:ext cx="3769221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2F5A16-1FFB-4808-BE85-127ABCFC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057400"/>
            <a:ext cx="190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3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F3FF02-30D3-4491-B177-591E7707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66925"/>
            <a:ext cx="762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18.9%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5728B4-C773-4F98-B348-0A4DD00C2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2066925"/>
            <a:ext cx="9525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75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PASS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01A325-0446-429C-87D4-CC89A973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33675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Bursts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579B21-33CC-40AE-A44D-FA5F2E66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81300"/>
            <a:ext cx="6381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8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5AC413-87B8-4949-AC19-77742261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81300"/>
            <a:ext cx="917377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1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96BC31-94A6-4EFD-85A5-21E40A0B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705100"/>
            <a:ext cx="190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3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DD4DA5-7481-4863-8736-BF6EE66C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05100"/>
            <a:ext cx="762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4.6%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7FDA15-DDD1-457D-A416-DDB4D317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2705100"/>
            <a:ext cx="9525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75" b="1">
                <a:solidFill>
                  <a:srgbClr val="EF715E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EF715E"/>
                </a:solidFill>
                <a:latin typeface="Aptos"/>
                <a:ea typeface="Aptos"/>
                <a:cs typeface="Aptos"/>
              </a:rPr>
              <a:t>LIMITATION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AA4664-7A5A-45E8-A28F-2DCD99BD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7185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Active electrodes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2AFE7B-3B28-4C97-A62C-C760248B8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90900"/>
            <a:ext cx="6381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8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E6C76C-B505-456A-B146-486FF49C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90900"/>
            <a:ext cx="3589734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614B08-8FB1-463C-9810-1AFD9697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33750"/>
            <a:ext cx="190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3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F182CF-E5A4-45FB-B9FD-143C0DBD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43275"/>
            <a:ext cx="762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18.0%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9AD8D3-E6DD-499E-B92C-1FFF6D9D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3343275"/>
            <a:ext cx="9525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75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PASS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D0194E-42AE-4698-A91C-31CBC7FCC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10025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Network spikes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BFE789-F3EA-4D8F-AB46-4E498721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38600"/>
            <a:ext cx="6381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8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B93B59-005F-4E89-9A01-48AA16FA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38600"/>
            <a:ext cx="1056977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1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A27065-FA6E-458D-9FDC-32506D72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981450"/>
            <a:ext cx="190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3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B553B8-28CB-4178-8F92-0267B832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81450"/>
            <a:ext cx="762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5.3%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08DE13-FB34-4A0B-B53D-56E152E73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3981450"/>
            <a:ext cx="9525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75" b="1">
                <a:solidFill>
                  <a:srgbClr val="EF715E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EF715E"/>
                </a:solidFill>
                <a:latin typeface="Aptos"/>
                <a:ea typeface="Aptos"/>
                <a:cs typeface="Aptos"/>
              </a:rPr>
              <a:t>LIMITATION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D94E1B-F730-4122-9B29-C697D23A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4820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Coordinated activity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3DBE73-56E5-4CEE-BDB0-D4D50F9C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86300"/>
            <a:ext cx="6381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8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74B410-C452-4E73-9954-4FEA7CF26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86300"/>
            <a:ext cx="5663803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79090F-1215-4230-AC61-EBCCFA3E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610100"/>
            <a:ext cx="190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3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A74B7F-41C1-44B0-BA57-0B65CAB70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19625"/>
            <a:ext cx="762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>
                <a:solidFill>
                  <a:srgbClr val="1020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202B"/>
                </a:solidFill>
                <a:latin typeface="Aptos"/>
                <a:ea typeface="Aptos"/>
                <a:cs typeface="Aptos"/>
              </a:rPr>
              <a:t>28.4%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753302-94D0-4F68-B9BE-A3C55098E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619625"/>
            <a:ext cx="9525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75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PASS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5C16DC3-F04E-423D-954F-522D5213B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619750"/>
            <a:ext cx="7524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Uncertain cases continue to DIV12; this policy does not terminate assays.</a:t>
            </a:r>
          </a:p>
        </p:txBody>
      </p:sp>
    </p:spTree>
    <p:extLst>
      <p:ext uri="{BB962C8B-B14F-4D97-AF65-F5344CB8AC3E}">
        <p14:creationId xmlns:p14="http://schemas.microsoft.com/office/powerpoint/2010/main" val="19981643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0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97D208D-FA6D-4F30-9F19-0A6F357E4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A8B8868-5AFF-4237-8288-E642D5A9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95275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TIME CAUSALITY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76E3E6-2D6F-4151-BB91-85E68AEC9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1010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4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DIV7 is the earliest useful decision point; interpretability explains why.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91D33C-6B2F-4B5A-8747-D4D0A324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43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DCC4A6-3374-42FF-9130-189DBEF0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72250"/>
            <a:ext cx="4762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0" b="0">
                <a:solidFill>
                  <a:srgbClr val="8B979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8B979F"/>
                </a:solidFill>
                <a:latin typeface="Aptos"/>
                <a:ea typeface="Aptos"/>
                <a:cs typeface="Aptos"/>
              </a:rPr>
              <a:t>MEACompass  |  locked retrospective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3299D2-A390-4902-8D18-59D1E0C9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72250"/>
            <a:ext cx="3619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0" b="0">
                <a:solidFill>
                  <a:srgbClr val="8B979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8B979F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3F3C85-1D29-4699-B96B-B1015787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1619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01FF8C-898F-4F06-B888-8B5B4CC2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91000"/>
            <a:ext cx="1276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DIV5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D262A8-FED2-4864-96A6-0C6E9AE9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33900"/>
            <a:ext cx="1276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5D696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96F"/>
                </a:solidFill>
                <a:latin typeface="Aptos"/>
                <a:ea typeface="Aptos"/>
                <a:cs typeface="Aptos"/>
              </a:rPr>
              <a:t>weaker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0227AF-466C-4EF4-99B8-F2707233B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467100"/>
            <a:ext cx="20002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58409C-1D2A-4E34-97D4-2BB583ED0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67125"/>
            <a:ext cx="1657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DIV5 + DIV7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C6E69B-9806-4146-BA31-E749900C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010025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5D696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96F"/>
                </a:solidFill>
                <a:latin typeface="Aptos"/>
                <a:ea typeface="Aptos"/>
                <a:cs typeface="Aptos"/>
              </a:rPr>
              <a:t>primary locked 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23D5E9-1D32-4097-A977-DAA1D155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895600"/>
            <a:ext cx="2190750" cy="1971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A8B9C3-57C2-47B6-B089-C89844B1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95625"/>
            <a:ext cx="18478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DIV5 + 7 + 9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35ABE4-0197-4E0C-89FD-2CEB591C8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438525"/>
            <a:ext cx="1847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5D696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96F"/>
                </a:solidFill>
                <a:latin typeface="Aptos"/>
                <a:ea typeface="Aptos"/>
                <a:cs typeface="Aptos"/>
              </a:rPr>
              <a:t>post-lock ablation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A4F0C7-37F6-4A00-8A5F-06E5CDF09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24100"/>
            <a:ext cx="2476500" cy="2543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3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792559-9FA2-47C0-977A-EA238B542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24125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DIV12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C1517F-9B03-4CED-9D74-4ECCCDB5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67025"/>
            <a:ext cx="2133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5D696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96F"/>
                </a:solidFill>
                <a:latin typeface="Aptos"/>
                <a:ea typeface="Aptos"/>
                <a:cs typeface="Aptos"/>
              </a:rPr>
              <a:t>observed endpoint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7CC679-C914-41A7-8DC0-30E41F79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324100"/>
            <a:ext cx="704850" cy="2543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43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39AD36-5F91-478D-B903-61C4435A1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552700"/>
            <a:ext cx="5143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DIV7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56.9–77.3%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F8233D-529E-4AD3-B22C-731965CF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3505200"/>
            <a:ext cx="5143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D9A43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D9A431"/>
                </a:solidFill>
                <a:latin typeface="Aptos"/>
                <a:ea typeface="Aptos"/>
                <a:cs typeface="Aptos"/>
              </a:rPr>
              <a:t>CHEM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D9A43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D9A431"/>
                </a:solidFill>
                <a:latin typeface="Aptos"/>
                <a:ea typeface="Aptos"/>
                <a:cs typeface="Aptos"/>
              </a:rPr>
              <a:t>11.2–31.8%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79F705-8E7E-433F-AA11-7507B8A0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219700"/>
            <a:ext cx="3333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>
                <a:solidFill>
                  <a:srgbClr val="EF715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F715E"/>
                </a:solidFill>
                <a:latin typeface="Aptos"/>
                <a:ea typeface="Aptos"/>
                <a:cs typeface="Aptos"/>
              </a:rPr>
              <a:t>One disclosed failure: tributyltin chloride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4B08AA-3AEB-4080-9B32-5243E6E8A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4286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B8C3C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8C3C9"/>
                </a:solidFill>
                <a:latin typeface="Aptos"/>
                <a:ea typeface="Aptos"/>
                <a:cs typeface="Aptos"/>
              </a:rPr>
              <a:t>Interpretability is predictive, not causal.</a:t>
            </a:r>
          </a:p>
        </p:txBody>
      </p:sp>
    </p:spTree>
    <p:extLst>
      <p:ext uri="{BB962C8B-B14F-4D97-AF65-F5344CB8AC3E}">
        <p14:creationId xmlns:p14="http://schemas.microsoft.com/office/powerpoint/2010/main" val="11896016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20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30E71C84-90E2-4180-A188-78D254609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F6D9ED39-7EF2-4181-907C-769ECC4C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95275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WORKING INTERFACE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2EF5BE-9BF1-4AAB-A66C-9960D3A7F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1010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4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demo keeps evidence, forecast, and hypothesis visibly separate.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34CBE1-08E9-4A8A-8C6D-C2B38B5F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43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6AD1B2-CA31-4C8A-8FA0-E33854AA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72250"/>
            <a:ext cx="4762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0" b="0">
                <a:solidFill>
                  <a:srgbClr val="8B979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8B979F"/>
                </a:solidFill>
                <a:latin typeface="Aptos"/>
                <a:ea typeface="Aptos"/>
                <a:cs typeface="Aptos"/>
              </a:rPr>
              <a:t>MEACompass  |  locked retrospective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588B89-99F3-4AF4-A434-4BBE8AC0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72250"/>
            <a:ext cx="3619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0" b="0">
                <a:solidFill>
                  <a:srgbClr val="8B979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8B979F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35163B-00D2-4661-A96E-B45EBEFE1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58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6F0"/>
          </a:solidFill>
          <a:ln xmlns:a="http://schemas.openxmlformats.org/drawingml/2006/main" w="9525">
            <a:solidFill>
              <a:srgbClr val="49B8A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E641FA-3995-4B1A-92DC-BCD2BE9F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05125"/>
            <a:ext cx="55245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EF715E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EF715E"/>
                </a:solidFill>
                <a:latin typeface="Georgia"/>
                <a:ea typeface="Georgia"/>
                <a:cs typeface="Georgia"/>
              </a:rPr>
              <a:t>REAL DEMO CAPTURE REQUIRED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93C77F-B7A5-4F77-91D4-53A1F5C41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571875"/>
            <a:ext cx="72390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52616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6A"/>
                </a:solidFill>
                <a:latin typeface="Aptos"/>
                <a:ea typeface="Aptos"/>
                <a:cs typeface="Aptos"/>
              </a:rPr>
              <a:t>The local static demo is complete, but the mandated in-app browser connection was unavailable in this session. No fake screenshot has been substituted.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995D57-3A4E-4DEC-82B3-F14A5A66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762500"/>
            <a:ext cx="685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docs/demo/index.html  •  precomputed held-out predictions  •  no external requests</a:t>
            </a:r>
          </a:p>
        </p:txBody>
      </p:sp>
    </p:spTree>
    <p:extLst>
      <p:ext uri="{BB962C8B-B14F-4D97-AF65-F5344CB8AC3E}">
        <p14:creationId xmlns:p14="http://schemas.microsoft.com/office/powerpoint/2010/main" val="12836088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388FBB5A-C3DD-4E30-9FB4-878AC2221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66A01CD5-1E9F-4CDF-99FF-564B9F61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95275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356E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56EE6"/>
                </a:solidFill>
                <a:latin typeface="Aptos"/>
                <a:ea typeface="Aptos"/>
                <a:cs typeface="Aptos"/>
              </a:rPr>
              <a:t>ADAPT, DO NOT DEPLOY BLINDLY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3F1B90-E067-41AE-9CF5-365010AE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1010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475" b="1">
                <a:solidFill>
                  <a:srgbClr val="10202B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10202B"/>
                </a:solidFill>
                <a:latin typeface="Georgia"/>
                <a:ea typeface="Georgia"/>
                <a:cs typeface="Georgia"/>
              </a:rPr>
              <a:t>Cohort-shift evidence is encouraging; a new chip still requires local validation.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705CA0-077A-4A98-92F2-48B7928B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8C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5FCB99-0CD0-474D-84B3-8E09BB62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72250"/>
            <a:ext cx="4762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0" b="0">
                <a:solidFill>
                  <a:srgbClr val="7E858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7E858A"/>
                </a:solidFill>
                <a:latin typeface="Aptos"/>
                <a:ea typeface="Aptos"/>
                <a:cs typeface="Aptos"/>
              </a:rPr>
              <a:t>MEACompass  |  locked retrospective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336433-54DF-49B9-9BB2-C7E86BFD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72250"/>
            <a:ext cx="3619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0" b="0">
                <a:solidFill>
                  <a:srgbClr val="7E858A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7E858A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D66E3D-F61C-42CA-A91B-2194B8E4A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49530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C51958-3FBC-4A29-AAD2-A613A9B8E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266950"/>
            <a:ext cx="2476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D9A43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D9A431"/>
                </a:solidFill>
                <a:latin typeface="Aptos"/>
                <a:ea typeface="Aptos"/>
                <a:cs typeface="Aptos"/>
              </a:rPr>
              <a:t>POST-LOCK SECONDARY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67ADF6-0DFA-4751-92C8-D776B038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67000"/>
            <a:ext cx="1476375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5 / 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9CBA86-ABEF-46EB-A153-FE2B1AFD2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847975"/>
            <a:ext cx="2857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endpoint wins in both directions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3A2216-71FD-4813-837B-23A9816E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476625"/>
            <a:ext cx="1714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ToxCast → NTP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AC2A56-717F-4336-9B93-4ED99371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76625"/>
            <a:ext cx="200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10.3–34.5%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841291-96CA-4E1A-87B4-D8397360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981450"/>
            <a:ext cx="1714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356EE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56EE6"/>
                </a:solidFill>
                <a:latin typeface="Aptos"/>
                <a:ea typeface="Aptos"/>
                <a:cs typeface="Aptos"/>
              </a:rPr>
              <a:t>NTP → ToxCast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4CA6F5-5D54-48E1-A994-2A78FCFC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81450"/>
            <a:ext cx="200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15.1–50.3%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17CD5D-E035-4607-A156-84391DD7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495800"/>
            <a:ext cx="4191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B8C3C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B8C3C9"/>
                </a:solidFill>
                <a:latin typeface="Aptos"/>
                <a:ea typeface="Aptos"/>
                <a:cs typeface="Aptos"/>
              </a:rPr>
              <a:t>Held-out cohort shift; not external laboratory/device transfer.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7D4889-354A-4C45-99B0-11D2FB19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57400"/>
            <a:ext cx="2190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356E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A22D2C-10AF-401C-AED2-982CE625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00275"/>
            <a:ext cx="18478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356EE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6EE6"/>
                </a:solidFill>
                <a:latin typeface="Aptos"/>
                <a:ea typeface="Aptos"/>
                <a:cs typeface="Aptos"/>
              </a:rPr>
              <a:t>1  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CB9CA7-C86A-4E8D-9893-6DFB6F9F3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38425"/>
            <a:ext cx="1847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4717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178"/>
                </a:solidFill>
                <a:latin typeface="Aptos"/>
                <a:ea typeface="Aptos"/>
                <a:cs typeface="Aptos"/>
              </a:rPr>
              <a:t>Local endpoints + controls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79A1D5-6854-44C2-B01D-F087BB25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57400"/>
            <a:ext cx="2190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356EE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1936DA-62B1-488D-97AC-86862021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200275"/>
            <a:ext cx="18478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356EE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6EE6"/>
                </a:solidFill>
                <a:latin typeface="Aptos"/>
                <a:ea typeface="Aptos"/>
                <a:cs typeface="Aptos"/>
              </a:rPr>
              <a:t>2   RETRAIN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195B42-A3DC-4EF6-BE94-8C55D3D3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38425"/>
            <a:ext cx="1847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4717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178"/>
                </a:solidFill>
                <a:latin typeface="Aptos"/>
                <a:ea typeface="Aptos"/>
                <a:cs typeface="Aptos"/>
              </a:rPr>
              <a:t>Local longitudinal 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77D7C6-93DD-4CE9-AC49-D406C294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81400"/>
            <a:ext cx="2190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49B8A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CEB882-247D-403A-AD6C-9D76DF37A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24275"/>
            <a:ext cx="18478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3   RECALIBRATE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78DC5C-BA21-405A-8507-60E43ED8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62425"/>
            <a:ext cx="1847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4717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178"/>
                </a:solidFill>
                <a:latin typeface="Aptos"/>
                <a:ea typeface="Aptos"/>
                <a:cs typeface="Aptos"/>
              </a:rPr>
              <a:t>Intervals + drift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8C1E4A-2830-4F52-A0BA-55C54949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81400"/>
            <a:ext cx="2190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49B8A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156B72-A8DB-4A75-B753-1FFAB8FF9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724275"/>
            <a:ext cx="18478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4   VALIDATE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533387-F918-42DD-9DF9-25FAED1C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162425"/>
            <a:ext cx="1847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47178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178"/>
                </a:solidFill>
                <a:latin typeface="Aptos"/>
                <a:ea typeface="Aptos"/>
                <a:cs typeface="Aptos"/>
              </a:rPr>
              <a:t>Prospective human 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3175AC-2932-4CED-A47D-D36F30CD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38750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EF715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F715E"/>
                </a:solidFill>
                <a:latin typeface="Aptos"/>
                <a:ea typeface="Aptos"/>
                <a:cs typeface="Aptos"/>
              </a:rPr>
              <a:t>The frozen EPA model is not a deployable neural OoC model.</a:t>
            </a:r>
          </a:p>
        </p:txBody>
      </p:sp>
    </p:spTree>
    <p:extLst>
      <p:ext uri="{BB962C8B-B14F-4D97-AF65-F5344CB8AC3E}">
        <p14:creationId xmlns:p14="http://schemas.microsoft.com/office/powerpoint/2010/main" val="18563122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0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8C83C49-F6BF-4611-9F81-7552A426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B8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F669F1DF-CBF1-4C4D-86ED-C859D8BB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95275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REPRODUCE WITHOUT RETRAINING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6EB1B1-3BB1-4B69-8D9D-30542634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1010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4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75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locked evidence rebuilds in minutes from committed predictions.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E657A-4FD6-4A21-A92E-12C904DB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1010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43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197417-A0F6-4C00-BB13-574FF823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72250"/>
            <a:ext cx="4762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0" b="0">
                <a:solidFill>
                  <a:srgbClr val="8B979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8B979F"/>
                </a:solidFill>
                <a:latin typeface="Aptos"/>
                <a:ea typeface="Aptos"/>
                <a:cs typeface="Aptos"/>
              </a:rPr>
              <a:t>MEACompass  |  locked retrospective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75B748-A695-472B-89E8-2D708F920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72250"/>
            <a:ext cx="3619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0" b="0">
                <a:solidFill>
                  <a:srgbClr val="8B979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8B979F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E59326-12A5-444E-A230-AA0128B8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50958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1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3D30A6-054A-4C45-949C-7255276C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3812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$ make setup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3B0AB9-6838-4D24-86AF-6A3586226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8384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$ make fetch-results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842F41-73E2-4838-818A-351C9C9F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2956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$ make test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491E45-DCEF-4AB6-B2BE-138F1639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7528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9B8A8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49B8A8"/>
                </a:solidFill>
                <a:latin typeface="Consolas"/>
                <a:ea typeface="Consolas"/>
                <a:cs typeface="Consolas"/>
              </a:rPr>
              <a:t>$ make reproduce-lite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E29287-21DD-4C9B-8FA5-0490DE01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2100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$ make demo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7E29E4-42C2-42F6-9837-DB8B1E08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33625"/>
            <a:ext cx="3905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9B8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49B8A8"/>
                </a:solidFill>
                <a:latin typeface="Aptos"/>
                <a:ea typeface="Aptos"/>
                <a:cs typeface="Aptos"/>
              </a:rPr>
              <a:t>NO AUTOMATIC RETRAINING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417AD4-923A-4510-A52A-8D3B8AF00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05125"/>
            <a:ext cx="4095750" cy="1619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C6D0D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6D0D5"/>
                </a:solidFill>
                <a:latin typeface="Aptos"/>
                <a:ea typeface="Aptos"/>
                <a:cs typeface="Aptos"/>
              </a:rPr>
              <a:t>Saved predictions → tables → figures → demo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C6D0D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6D0D5"/>
                </a:solidFill>
                <a:latin typeface="Aptos"/>
                <a:ea typeface="Aptos"/>
                <a:cs typeface="Aptos"/>
              </a:rPr>
              <a:t>Manifest hashes verify the evidence bundle.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C6D0D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6D0D5"/>
                </a:solidFill>
                <a:latin typeface="Aptos"/>
                <a:ea typeface="Aptos"/>
                <a:cs typeface="Aptos"/>
              </a:rPr>
              <a:t>Full training requires an explicit locked-rebuild flag.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BF2E99-D3C0-4180-AB5F-8C393D7B5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24500"/>
            <a:ext cx="8572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Forecast when evidence is strong; continue the assay when it is not.</a:t>
            </a:r>
          </a:p>
        </p:txBody>
      </p:sp>
    </p:spTree>
    <p:extLst>
      <p:ext uri="{BB962C8B-B14F-4D97-AF65-F5344CB8AC3E}">
        <p14:creationId xmlns:p14="http://schemas.microsoft.com/office/powerpoint/2010/main" val="11055518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2026-09-29T11:59:46.8940000Z</dcterms:created>
  <dcterms:modified xsi:type="dcterms:W3CDTF">2026-09-29T11:59:46.8940000Z</dcterms:modified>
</coreProperties>
</file>